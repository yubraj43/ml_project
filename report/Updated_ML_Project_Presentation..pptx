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1" r:id="rId21"/>
    <p:sldId id="2582" r:id="rId22"/>
    <p:sldId id="2583" r:id="rId23"/>
    <p:sldId id="2584" r:id="rId24"/>
    <p:sldId id="2585" r:id="rId25"/>
    <p:sldId id="2586" r:id="rId26"/>
    <p:sldId id="2587" r:id="rId27"/>
    <p:sldId id="2588" r:id="rId28"/>
    <p:sldId id="2589" r:id="rId29"/>
    <p:sldId id="259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ent Exam Performance Prediction System" id="{E5001280-43B3-4EE2-9769-E912FB7FCD65}">
          <p14:sldIdLst>
            <p14:sldId id="2561"/>
          </p14:sldIdLst>
        </p14:section>
        <p14:section name="Project Context and Purpose" id="{D53949E8-A4BF-4CDE-9A0C-BBA27268CEDA}">
          <p14:sldIdLst>
            <p14:sldId id="2562"/>
            <p14:sldId id="2563"/>
          </p14:sldIdLst>
        </p14:section>
        <p14:section name="Problem Definition" id="{BAA6CA17-9728-4CC4-A5E6-D85DC54BD3EB}">
          <p14:sldIdLst>
            <p14:sldId id="2564"/>
            <p14:sldId id="2565"/>
          </p14:sldIdLst>
        </p14:section>
        <p14:section name="Project Goals" id="{D088D96F-AA58-42FF-B0C7-20CD4DB310B9}">
          <p14:sldIdLst>
            <p14:sldId id="2566"/>
            <p14:sldId id="2567"/>
          </p14:sldIdLst>
        </p14:section>
        <p14:section name="Data Understanding" id="{F2BCC36E-D5EF-42D1-ABCC-370D63FDFE8E}">
          <p14:sldIdLst>
            <p14:sldId id="2568"/>
          </p14:sldIdLst>
        </p14:section>
        <p14:section name="System Workflow" id="{51CB934A-66D9-423D-90AF-EF1BC57A1D26}">
          <p14:sldIdLst>
            <p14:sldId id="2569"/>
            <p14:sldId id="2570"/>
          </p14:sldIdLst>
        </p14:section>
        <p14:section name="Data Preprocessing" id="{EF051926-6593-44D1-AAE4-0EE705495D20}">
          <p14:sldIdLst>
            <p14:sldId id="2571"/>
            <p14:sldId id="2572"/>
          </p14:sldIdLst>
        </p14:section>
        <p14:section name="Model Development" id="{E3147D82-E4C4-492B-83F0-B1B2BCF4EE73}">
          <p14:sldIdLst>
            <p14:sldId id="2573"/>
            <p14:sldId id="2574"/>
          </p14:sldIdLst>
        </p14:section>
        <p14:section name="Model Evaluation" id="{73E57594-BB91-4D13-82A7-F4AD44FE7A0F}">
          <p14:sldIdLst>
            <p14:sldId id="2575"/>
            <p14:sldId id="2576"/>
          </p14:sldIdLst>
        </p14:section>
        <p14:section name="Deployment" id="{5404D15A-1695-46AF-80E0-E916B60DD71C}">
          <p14:sldIdLst>
            <p14:sldId id="2577"/>
            <p14:sldId id="2578"/>
          </p14:sldIdLst>
        </p14:section>
        <p14:section name="Project Outputs" id="{B304F9C6-680D-4E15-B2CE-921BAE5DB283}">
          <p14:sldIdLst>
            <p14:sldId id="2579"/>
          </p14:sldIdLst>
        </p14:section>
        <p14:section name="Evaluation of the System" id="{B2BFA8F8-776D-4A0A-9382-706D86BD8658}">
          <p14:sldIdLst>
            <p14:sldId id="2581"/>
            <p14:sldId id="2582"/>
          </p14:sldIdLst>
        </p14:section>
        <p14:section name="Future Enhancements" id="{2EA9A5B6-F4EB-4F42-A410-BCFE93D97722}">
          <p14:sldIdLst>
            <p14:sldId id="2583"/>
            <p14:sldId id="2584"/>
          </p14:sldIdLst>
        </p14:section>
        <p14:section name="Overall Impact" id="{FFFAD633-9F94-4547-ADA3-10AAFA61F7C6}">
          <p14:sldIdLst>
            <p14:sldId id="2585"/>
            <p14:sldId id="2586"/>
          </p14:sldIdLst>
        </p14:section>
        <p14:section name="Conclusion" id="{6E318E18-1ED7-40ED-9CD6-5E65692A56B4}">
          <p14:sldIdLst>
            <p14:sldId id="2587"/>
            <p14:sldId id="2588"/>
            <p14:sldId id="2589"/>
            <p14:sldId id="25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DE27F1-AE9C-40FE-A5FB-7AA0CF67C30D}" v="85" dt="2026-03-25T20:04:26.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FCAFD-BA4C-49A3-8BD9-260D8B9A8388}" type="datetimeFigureOut">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7FFF3C-77DC-4F41-AD7B-9317BB303C51}" type="slidenum">
              <a:t>‹#›</a:t>
            </a:fld>
            <a:endParaRPr lang="en-US"/>
          </a:p>
        </p:txBody>
      </p:sp>
    </p:spTree>
    <p:extLst>
      <p:ext uri="{BB962C8B-B14F-4D97-AF65-F5344CB8AC3E}">
        <p14:creationId xmlns:p14="http://schemas.microsoft.com/office/powerpoint/2010/main" val="3322328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9003CCA-9F94-49BC-B0CB-21A9355940F1}" type="slidenum">
              <a:t>1</a:t>
            </a:fld>
            <a:endParaRPr lang="en-US"/>
          </a:p>
        </p:txBody>
      </p:sp>
    </p:spTree>
    <p:extLst>
      <p:ext uri="{BB962C8B-B14F-4D97-AF65-F5344CB8AC3E}">
        <p14:creationId xmlns:p14="http://schemas.microsoft.com/office/powerpoint/2010/main" val="325037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Student Exam Performance Prediction System Overview</a:t>
            </a:r>
          </a:p>
        </p:txBody>
      </p:sp>
      <p:sp>
        <p:nvSpPr>
          <p:cNvPr id="4" name="Slide Number Placeholder 3"/>
          <p:cNvSpPr>
            <a:spLocks noGrp="1"/>
          </p:cNvSpPr>
          <p:nvPr>
            <p:ph type="sldNum" sz="quarter" idx="5"/>
          </p:nvPr>
        </p:nvSpPr>
        <p:spPr/>
        <p:txBody>
          <a:bodyPr/>
          <a:lstStyle/>
          <a:p>
            <a:fld id="{B9003CCA-9F94-49BC-B0CB-21A9355940F1}" type="slidenum">
              <a:t>2</a:t>
            </a:fld>
            <a:endParaRPr lang="en-US"/>
          </a:p>
        </p:txBody>
      </p:sp>
    </p:spTree>
    <p:extLst>
      <p:ext uri="{BB962C8B-B14F-4D97-AF65-F5344CB8AC3E}">
        <p14:creationId xmlns:p14="http://schemas.microsoft.com/office/powerpoint/2010/main" val="232518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Student Exam Performance Prediction System is a portfolio-grade machine learning project designed to demonstrate a complete, well-structured ML lifecycle, from problem definition to cloud deployment. The core purpose of this system is to predict a student’s mathematics score based on a combination of demographic, socio-economic, and academic performance indicators. By framing the project as an end-to-end system rather than a standalone model, it highlights practical engineering considerations such as data ingestion, preprocessing, model selection, artifact management, and real-time inference. The project is particularly relevant for educational institutions seeking early indicators of academic risk, allowing timely intervention before final assessments. From a technical perspective, the system integrates multiple components: a training pipeline that processes raw CSV data, evaluates several regression models, and persists the best-performing model, and an inference pipeline that serves predictions through a Flask-based web application. The presentation positions this project as both a learning exercise and a realistic prototype, suitable for extension into production. It emphasizes clarity, modularity, and reproducibility, which are essential qualities of a “well-mannered” and professional ML presentation. By clearly communicating the motivation, scope, and outcomes, this slide sets the tone for the rest of the presentation and helps the audience quickly understand why the project exists, what problem it solves, and how it delivers value using machine learning and software engineering best practices.</a:t>
            </a:r>
          </a:p>
        </p:txBody>
      </p:sp>
      <p:sp>
        <p:nvSpPr>
          <p:cNvPr id="4" name="Slide Number Placeholder 3"/>
          <p:cNvSpPr>
            <a:spLocks noGrp="1"/>
          </p:cNvSpPr>
          <p:nvPr>
            <p:ph type="sldNum" sz="quarter" idx="5"/>
          </p:nvPr>
        </p:nvSpPr>
        <p:spPr/>
        <p:txBody>
          <a:bodyPr/>
          <a:lstStyle/>
          <a:p>
            <a:fld id="{B9003CCA-9F94-49BC-B0CB-21A9355940F1}" type="slidenum">
              <a:t>3</a:t>
            </a:fld>
            <a:endParaRPr lang="en-US"/>
          </a:p>
        </p:txBody>
      </p:sp>
    </p:spTree>
    <p:extLst>
      <p:ext uri="{BB962C8B-B14F-4D97-AF65-F5344CB8AC3E}">
        <p14:creationId xmlns:p14="http://schemas.microsoft.com/office/powerpoint/2010/main" val="1813782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Problem in Educational Analytics</a:t>
            </a:r>
          </a:p>
        </p:txBody>
      </p:sp>
      <p:sp>
        <p:nvSpPr>
          <p:cNvPr id="4" name="Slide Number Placeholder 3"/>
          <p:cNvSpPr>
            <a:spLocks noGrp="1"/>
          </p:cNvSpPr>
          <p:nvPr>
            <p:ph type="sldNum" sz="quarter" idx="5"/>
          </p:nvPr>
        </p:nvSpPr>
        <p:spPr/>
        <p:txBody>
          <a:bodyPr/>
          <a:lstStyle/>
          <a:p>
            <a:fld id="{B9003CCA-9F94-49BC-B0CB-21A9355940F1}" type="slidenum">
              <a:t>4</a:t>
            </a:fld>
            <a:endParaRPr lang="en-US"/>
          </a:p>
        </p:txBody>
      </p:sp>
    </p:spTree>
    <p:extLst>
      <p:ext uri="{BB962C8B-B14F-4D97-AF65-F5344CB8AC3E}">
        <p14:creationId xmlns:p14="http://schemas.microsoft.com/office/powerpoint/2010/main" val="1014460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Educational institutions often struggle to identify students who may underperform in key subjects such as mathematics until it is too late for effective intervention. Traditional methods rely heavily on manual analysis by teachers or administrators, which can be time-consuming, subjective, and inconsistent across departments. This creates a clear business and operational problem: the lack of scalable, data-driven tools to provide early performance signals. The Student Exam Performance Prediction System addresses this gap by using historical and contextual student data to estimate math scores before final evaluations. The problem is framed in practical terms, focusing on the need for faster insights, consistency in analysis, and the ability to support decision-making with quantitative evidence. By predicting performance, institutions can allocate resources more efficiently, design targeted support programs, and improve overall academic outcomes. From an ML standpoint, the problem is defined as a supervised regression task, where the target variable is a continuous math score. Clearly articulating this business problem ensures that the technical solution remains aligned with real-world needs. This slide demonstrates a disciplined approach to problem definition, which is essential for a well-structured and professional presentation, and helps bridge the gap between educational challenges and machine learning solutions.</a:t>
            </a:r>
          </a:p>
        </p:txBody>
      </p:sp>
      <p:sp>
        <p:nvSpPr>
          <p:cNvPr id="4" name="Slide Number Placeholder 3"/>
          <p:cNvSpPr>
            <a:spLocks noGrp="1"/>
          </p:cNvSpPr>
          <p:nvPr>
            <p:ph type="sldNum" sz="quarter" idx="5"/>
          </p:nvPr>
        </p:nvSpPr>
        <p:spPr/>
        <p:txBody>
          <a:bodyPr/>
          <a:lstStyle/>
          <a:p>
            <a:fld id="{B9003CCA-9F94-49BC-B0CB-21A9355940F1}" type="slidenum">
              <a:t>5</a:t>
            </a:fld>
            <a:endParaRPr lang="en-US"/>
          </a:p>
        </p:txBody>
      </p:sp>
    </p:spTree>
    <p:extLst>
      <p:ext uri="{BB962C8B-B14F-4D97-AF65-F5344CB8AC3E}">
        <p14:creationId xmlns:p14="http://schemas.microsoft.com/office/powerpoint/2010/main" val="3780149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 and Success Criteria</a:t>
            </a:r>
          </a:p>
        </p:txBody>
      </p:sp>
      <p:sp>
        <p:nvSpPr>
          <p:cNvPr id="4" name="Slide Number Placeholder 3"/>
          <p:cNvSpPr>
            <a:spLocks noGrp="1"/>
          </p:cNvSpPr>
          <p:nvPr>
            <p:ph type="sldNum" sz="quarter" idx="5"/>
          </p:nvPr>
        </p:nvSpPr>
        <p:spPr/>
        <p:txBody>
          <a:bodyPr/>
          <a:lstStyle/>
          <a:p>
            <a:fld id="{B9003CCA-9F94-49BC-B0CB-21A9355940F1}" type="slidenum">
              <a:t>6</a:t>
            </a:fld>
            <a:endParaRPr lang="en-US"/>
          </a:p>
        </p:txBody>
      </p:sp>
    </p:spTree>
    <p:extLst>
      <p:ext uri="{BB962C8B-B14F-4D97-AF65-F5344CB8AC3E}">
        <p14:creationId xmlns:p14="http://schemas.microsoft.com/office/powerpoint/2010/main" val="3392341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 of this project is to build a reproducible and maintainable machine learning pipeline capable of predicting student math scores with reasonable accuracy. Rather than focusing solely on achieving the highest possible metric, the project defines success through multiple criteria: code modularity, clarity of workflow, and the ability to deploy and serve predictions in real time. Specific goals include training and evaluating multiple regression models, selecting the best model based on test-set R² performance, and enforcing a minimum quality threshold to avoid deploying weak models. Another key objective is to demonstrate good ML engineering practices, such as separating training and inference logic, persisting artifacts like preprocessors and models, and logging pipeline execution. Additionally, the project aims to provide a simple and intuitive web interface for users, showing how ML outputs can be exposed to non-technical stakeholders. These objectives reflect a balanced view of success that combines model performance, engineering quality, and usability. Presenting clear objectives helps the audience understand what the project is trying to achieve and provides a framework for evaluating its outcomes in later slides.</a:t>
            </a:r>
          </a:p>
        </p:txBody>
      </p:sp>
      <p:sp>
        <p:nvSpPr>
          <p:cNvPr id="4" name="Slide Number Placeholder 3"/>
          <p:cNvSpPr>
            <a:spLocks noGrp="1"/>
          </p:cNvSpPr>
          <p:nvPr>
            <p:ph type="sldNum" sz="quarter" idx="5"/>
          </p:nvPr>
        </p:nvSpPr>
        <p:spPr/>
        <p:txBody>
          <a:bodyPr/>
          <a:lstStyle/>
          <a:p>
            <a:fld id="{B9003CCA-9F94-49BC-B0CB-21A9355940F1}" type="slidenum">
              <a:t>7</a:t>
            </a:fld>
            <a:endParaRPr lang="en-US"/>
          </a:p>
        </p:txBody>
      </p:sp>
    </p:spTree>
    <p:extLst>
      <p:ext uri="{BB962C8B-B14F-4D97-AF65-F5344CB8AC3E}">
        <p14:creationId xmlns:p14="http://schemas.microsoft.com/office/powerpoint/2010/main" val="3616884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Dataset Source and Feature Description</a:t>
            </a:r>
          </a:p>
        </p:txBody>
      </p:sp>
      <p:sp>
        <p:nvSpPr>
          <p:cNvPr id="4" name="Slide Number Placeholder 3"/>
          <p:cNvSpPr>
            <a:spLocks noGrp="1"/>
          </p:cNvSpPr>
          <p:nvPr>
            <p:ph type="sldNum" sz="quarter" idx="5"/>
          </p:nvPr>
        </p:nvSpPr>
        <p:spPr/>
        <p:txBody>
          <a:bodyPr/>
          <a:lstStyle/>
          <a:p>
            <a:fld id="{B9003CCA-9F94-49BC-B0CB-21A9355940F1}" type="slidenum">
              <a:t>8</a:t>
            </a:fld>
            <a:endParaRPr lang="en-US"/>
          </a:p>
        </p:txBody>
      </p:sp>
    </p:spTree>
    <p:extLst>
      <p:ext uri="{BB962C8B-B14F-4D97-AF65-F5344CB8AC3E}">
        <p14:creationId xmlns:p14="http://schemas.microsoft.com/office/powerpoint/2010/main" val="342839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Machine Learning Pipeline</a:t>
            </a:r>
          </a:p>
        </p:txBody>
      </p:sp>
      <p:sp>
        <p:nvSpPr>
          <p:cNvPr id="4" name="Slide Number Placeholder 3"/>
          <p:cNvSpPr>
            <a:spLocks noGrp="1"/>
          </p:cNvSpPr>
          <p:nvPr>
            <p:ph type="sldNum" sz="quarter" idx="5"/>
          </p:nvPr>
        </p:nvSpPr>
        <p:spPr/>
        <p:txBody>
          <a:bodyPr/>
          <a:lstStyle/>
          <a:p>
            <a:fld id="{B9003CCA-9F94-49BC-B0CB-21A9355940F1}" type="slidenum">
              <a:t>9</a:t>
            </a:fld>
            <a:endParaRPr lang="en-US"/>
          </a:p>
        </p:txBody>
      </p:sp>
    </p:spTree>
    <p:extLst>
      <p:ext uri="{BB962C8B-B14F-4D97-AF65-F5344CB8AC3E}">
        <p14:creationId xmlns:p14="http://schemas.microsoft.com/office/powerpoint/2010/main" val="1569041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end-to-end workflow of the Student Exam Performance Prediction System is designed to be logical, modular, and easy to follow. It begins with data ingestion, where raw CSV data is read and validated, followed by a train-test split to ensure unbiased model evaluation. Next, a preprocessing pipeline is constructed to handle missing values, scale numerical features, and encode categorical variables. Multiple regression models are then trained and tuned using systematic hyperparameter search techniques. Each trained model is evaluated on the test dataset, and the best-performing model is selected based on R² score. A quality gate is applied to prevent weak models from being saved. Once selected, the model and preprocessor are persisted as artifacts. Finally, the inference workflow loads these artifacts and serves predictions through a Flask web application. This clear, step-by-step workflow demonstrates disciplined ML engineering and makes the system easier to debug, extend, and explain, which is essential for a professional presentation.</a:t>
            </a:r>
          </a:p>
        </p:txBody>
      </p:sp>
      <p:sp>
        <p:nvSpPr>
          <p:cNvPr id="4" name="Slide Number Placeholder 3"/>
          <p:cNvSpPr>
            <a:spLocks noGrp="1"/>
          </p:cNvSpPr>
          <p:nvPr>
            <p:ph type="sldNum" sz="quarter" idx="5"/>
          </p:nvPr>
        </p:nvSpPr>
        <p:spPr/>
        <p:txBody>
          <a:bodyPr/>
          <a:lstStyle/>
          <a:p>
            <a:fld id="{B9003CCA-9F94-49BC-B0CB-21A9355940F1}" type="slidenum">
              <a:t>10</a:t>
            </a:fld>
            <a:endParaRPr lang="en-US"/>
          </a:p>
        </p:txBody>
      </p:sp>
    </p:spTree>
    <p:extLst>
      <p:ext uri="{BB962C8B-B14F-4D97-AF65-F5344CB8AC3E}">
        <p14:creationId xmlns:p14="http://schemas.microsoft.com/office/powerpoint/2010/main" val="2957928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Numerical and Categorical Feature Processing</a:t>
            </a:r>
          </a:p>
        </p:txBody>
      </p:sp>
      <p:sp>
        <p:nvSpPr>
          <p:cNvPr id="4" name="Slide Number Placeholder 3"/>
          <p:cNvSpPr>
            <a:spLocks noGrp="1"/>
          </p:cNvSpPr>
          <p:nvPr>
            <p:ph type="sldNum" sz="quarter" idx="5"/>
          </p:nvPr>
        </p:nvSpPr>
        <p:spPr/>
        <p:txBody>
          <a:bodyPr/>
          <a:lstStyle/>
          <a:p>
            <a:fld id="{B9003CCA-9F94-49BC-B0CB-21A9355940F1}" type="slidenum">
              <a:t>11</a:t>
            </a:fld>
            <a:endParaRPr lang="en-US"/>
          </a:p>
        </p:txBody>
      </p:sp>
    </p:spTree>
    <p:extLst>
      <p:ext uri="{BB962C8B-B14F-4D97-AF65-F5344CB8AC3E}">
        <p14:creationId xmlns:p14="http://schemas.microsoft.com/office/powerpoint/2010/main" val="3973737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preprocessing is a critical component of the system, ensuring that raw input data is transformed into a format suitable for machine learning models. Numerical features undergo median imputation to handle missing values, followed by standard scaling to normalize feature ranges and improve model convergence. Categorical features are processed using most-frequent imputation to address missing categories, then transformed using one-hot encoding to convert them into numerical representations. Scaling is applied in a sparse-safe manner to maintain efficiency. These separate pipelines are combined using a ColumnTransformer, allowing different preprocessing strategies to be applied to different feature types in a clean and maintainable way. This approach reduces data leakage risks and ensures consistent transformations during both training and inference. Presenting preprocessing in a structured manner highlights attention to detail and reinforces the importance of data quality in achieving reliable model performance.</a:t>
            </a:r>
          </a:p>
        </p:txBody>
      </p:sp>
      <p:sp>
        <p:nvSpPr>
          <p:cNvPr id="4" name="Slide Number Placeholder 3"/>
          <p:cNvSpPr>
            <a:spLocks noGrp="1"/>
          </p:cNvSpPr>
          <p:nvPr>
            <p:ph type="sldNum" sz="quarter" idx="5"/>
          </p:nvPr>
        </p:nvSpPr>
        <p:spPr/>
        <p:txBody>
          <a:bodyPr/>
          <a:lstStyle/>
          <a:p>
            <a:fld id="{B9003CCA-9F94-49BC-B0CB-21A9355940F1}" type="slidenum">
              <a:t>12</a:t>
            </a:fld>
            <a:endParaRPr lang="en-US"/>
          </a:p>
        </p:txBody>
      </p:sp>
    </p:spTree>
    <p:extLst>
      <p:ext uri="{BB962C8B-B14F-4D97-AF65-F5344CB8AC3E}">
        <p14:creationId xmlns:p14="http://schemas.microsoft.com/office/powerpoint/2010/main" val="3793986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Regression Models and Training Strategy</a:t>
            </a:r>
          </a:p>
        </p:txBody>
      </p:sp>
      <p:sp>
        <p:nvSpPr>
          <p:cNvPr id="4" name="Slide Number Placeholder 3"/>
          <p:cNvSpPr>
            <a:spLocks noGrp="1"/>
          </p:cNvSpPr>
          <p:nvPr>
            <p:ph type="sldNum" sz="quarter" idx="5"/>
          </p:nvPr>
        </p:nvSpPr>
        <p:spPr/>
        <p:txBody>
          <a:bodyPr/>
          <a:lstStyle/>
          <a:p>
            <a:fld id="{B9003CCA-9F94-49BC-B0CB-21A9355940F1}" type="slidenum">
              <a:t>13</a:t>
            </a:fld>
            <a:endParaRPr lang="en-US"/>
          </a:p>
        </p:txBody>
      </p:sp>
    </p:spTree>
    <p:extLst>
      <p:ext uri="{BB962C8B-B14F-4D97-AF65-F5344CB8AC3E}">
        <p14:creationId xmlns:p14="http://schemas.microsoft.com/office/powerpoint/2010/main" val="1609985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adopts a comparative modeling strategy by training multiple regression algorithms and evaluating them under a consistent framework. Candidate models include Linear Regression for baseline performance, tree-based models such as Decision Trees and Random Forests for non-linear relationships, ensemble methods like Gradient Boosting and AdaBoost for improved accuracy, and K-Nearest Neighbors for instance-based learning. Optional advanced models such as XGBoost and CatBoost can be enabled through configuration flags, demonstrating extensibility. Hyperparameter tuning is performed using GridSearchCV, ensuring systematic exploration of model configurations. This strategy reflects real-world ML practice, where multiple models are tested rather than relying on a single approach. Clearly explaining this strategy shows methodological rigor and helps the audience appreciate why the selected model can be trusted.</a:t>
            </a:r>
          </a:p>
        </p:txBody>
      </p:sp>
      <p:sp>
        <p:nvSpPr>
          <p:cNvPr id="4" name="Slide Number Placeholder 3"/>
          <p:cNvSpPr>
            <a:spLocks noGrp="1"/>
          </p:cNvSpPr>
          <p:nvPr>
            <p:ph type="sldNum" sz="quarter" idx="5"/>
          </p:nvPr>
        </p:nvSpPr>
        <p:spPr/>
        <p:txBody>
          <a:bodyPr/>
          <a:lstStyle/>
          <a:p>
            <a:fld id="{B9003CCA-9F94-49BC-B0CB-21A9355940F1}" type="slidenum">
              <a:t>14</a:t>
            </a:fld>
            <a:endParaRPr lang="en-US"/>
          </a:p>
        </p:txBody>
      </p:sp>
    </p:spTree>
    <p:extLst>
      <p:ext uri="{BB962C8B-B14F-4D97-AF65-F5344CB8AC3E}">
        <p14:creationId xmlns:p14="http://schemas.microsoft.com/office/powerpoint/2010/main" val="4045723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 Selection and Quality Gates</a:t>
            </a:r>
          </a:p>
        </p:txBody>
      </p:sp>
      <p:sp>
        <p:nvSpPr>
          <p:cNvPr id="4" name="Slide Number Placeholder 3"/>
          <p:cNvSpPr>
            <a:spLocks noGrp="1"/>
          </p:cNvSpPr>
          <p:nvPr>
            <p:ph type="sldNum" sz="quarter" idx="5"/>
          </p:nvPr>
        </p:nvSpPr>
        <p:spPr/>
        <p:txBody>
          <a:bodyPr/>
          <a:lstStyle/>
          <a:p>
            <a:fld id="{B9003CCA-9F94-49BC-B0CB-21A9355940F1}" type="slidenum">
              <a:t>15</a:t>
            </a:fld>
            <a:endParaRPr lang="en-US"/>
          </a:p>
        </p:txBody>
      </p:sp>
    </p:spTree>
    <p:extLst>
      <p:ext uri="{BB962C8B-B14F-4D97-AF65-F5344CB8AC3E}">
        <p14:creationId xmlns:p14="http://schemas.microsoft.com/office/powerpoint/2010/main" val="3648771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Model evaluation is conducted using the R² metric on a held-out test dataset, providing an interpretable measure of how well predictions explain variance in math scores. After evaluating all tuned models, the system selects the model with the highest test R². To maintain quality, a minimum performance threshold is enforced, and training fails if no model meets this criterion. This quality gate prevents accidental deployment of underperforming models and reflects production-minded thinking. The selected model is saved as a serialized artifact, along with the preprocessing pipeline, ensuring consistency during inference. By clearly documenting evaluation and selection logic, the presentation demonstrates transparency and responsible ML practices, which are essential for stakeholder trust.</a:t>
            </a:r>
          </a:p>
        </p:txBody>
      </p:sp>
      <p:sp>
        <p:nvSpPr>
          <p:cNvPr id="4" name="Slide Number Placeholder 3"/>
          <p:cNvSpPr>
            <a:spLocks noGrp="1"/>
          </p:cNvSpPr>
          <p:nvPr>
            <p:ph type="sldNum" sz="quarter" idx="5"/>
          </p:nvPr>
        </p:nvSpPr>
        <p:spPr/>
        <p:txBody>
          <a:bodyPr/>
          <a:lstStyle/>
          <a:p>
            <a:fld id="{B9003CCA-9F94-49BC-B0CB-21A9355940F1}" type="slidenum">
              <a:t>16</a:t>
            </a:fld>
            <a:endParaRPr lang="en-US"/>
          </a:p>
        </p:txBody>
      </p:sp>
    </p:spTree>
    <p:extLst>
      <p:ext uri="{BB962C8B-B14F-4D97-AF65-F5344CB8AC3E}">
        <p14:creationId xmlns:p14="http://schemas.microsoft.com/office/powerpoint/2010/main" val="3080351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Flask Application and Cloud Hosting</a:t>
            </a:r>
          </a:p>
        </p:txBody>
      </p:sp>
      <p:sp>
        <p:nvSpPr>
          <p:cNvPr id="4" name="Slide Number Placeholder 3"/>
          <p:cNvSpPr>
            <a:spLocks noGrp="1"/>
          </p:cNvSpPr>
          <p:nvPr>
            <p:ph type="sldNum" sz="quarter" idx="5"/>
          </p:nvPr>
        </p:nvSpPr>
        <p:spPr/>
        <p:txBody>
          <a:bodyPr/>
          <a:lstStyle/>
          <a:p>
            <a:fld id="{B9003CCA-9F94-49BC-B0CB-21A9355940F1}" type="slidenum">
              <a:t>17</a:t>
            </a:fld>
            <a:endParaRPr lang="en-US"/>
          </a:p>
        </p:txBody>
      </p:sp>
    </p:spTree>
    <p:extLst>
      <p:ext uri="{BB962C8B-B14F-4D97-AF65-F5344CB8AC3E}">
        <p14:creationId xmlns:p14="http://schemas.microsoft.com/office/powerpoint/2010/main" val="6075290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deployment layer of the system uses a Flask web application to provide a simple and accessible interface for generating predictions. Users input student-related features through a form, and the application routes the request to a prediction endpoint that loads the saved model and preprocessor artifacts. Predictions are generated in real time and displayed back to the user. The application is deployed on the Render cloud platform using Gunicorn as the production server, demonstrating familiarity with modern deployment practices. This setup shows how ML models can be integrated into user-facing systems rather than remaining isolated in notebooks. Including deployment details reinforces the project’s end-to-end nature and highlights practical skills beyond model training.</a:t>
            </a:r>
          </a:p>
        </p:txBody>
      </p:sp>
      <p:sp>
        <p:nvSpPr>
          <p:cNvPr id="4" name="Slide Number Placeholder 3"/>
          <p:cNvSpPr>
            <a:spLocks noGrp="1"/>
          </p:cNvSpPr>
          <p:nvPr>
            <p:ph type="sldNum" sz="quarter" idx="5"/>
          </p:nvPr>
        </p:nvSpPr>
        <p:spPr/>
        <p:txBody>
          <a:bodyPr/>
          <a:lstStyle/>
          <a:p>
            <a:fld id="{B9003CCA-9F94-49BC-B0CB-21A9355940F1}" type="slidenum">
              <a:t>18</a:t>
            </a:fld>
            <a:endParaRPr lang="en-US"/>
          </a:p>
        </p:txBody>
      </p:sp>
    </p:spTree>
    <p:extLst>
      <p:ext uri="{BB962C8B-B14F-4D97-AF65-F5344CB8AC3E}">
        <p14:creationId xmlns:p14="http://schemas.microsoft.com/office/powerpoint/2010/main" val="258469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Artifacts and Deliverables</a:t>
            </a:r>
          </a:p>
        </p:txBody>
      </p:sp>
      <p:sp>
        <p:nvSpPr>
          <p:cNvPr id="4" name="Slide Number Placeholder 3"/>
          <p:cNvSpPr>
            <a:spLocks noGrp="1"/>
          </p:cNvSpPr>
          <p:nvPr>
            <p:ph type="sldNum" sz="quarter" idx="5"/>
          </p:nvPr>
        </p:nvSpPr>
        <p:spPr/>
        <p:txBody>
          <a:bodyPr/>
          <a:lstStyle/>
          <a:p>
            <a:fld id="{B9003CCA-9F94-49BC-B0CB-21A9355940F1}" type="slidenum">
              <a:t>19</a:t>
            </a:fld>
            <a:endParaRPr lang="en-US"/>
          </a:p>
        </p:txBody>
      </p:sp>
    </p:spTree>
    <p:extLst>
      <p:ext uri="{BB962C8B-B14F-4D97-AF65-F5344CB8AC3E}">
        <p14:creationId xmlns:p14="http://schemas.microsoft.com/office/powerpoint/2010/main" val="3777225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Strengths and Current Limitations</a:t>
            </a:r>
          </a:p>
        </p:txBody>
      </p:sp>
      <p:sp>
        <p:nvSpPr>
          <p:cNvPr id="4" name="Slide Number Placeholder 3"/>
          <p:cNvSpPr>
            <a:spLocks noGrp="1"/>
          </p:cNvSpPr>
          <p:nvPr>
            <p:ph type="sldNum" sz="quarter" idx="5"/>
          </p:nvPr>
        </p:nvSpPr>
        <p:spPr/>
        <p:txBody>
          <a:bodyPr/>
          <a:lstStyle/>
          <a:p>
            <a:fld id="{B9003CCA-9F94-49BC-B0CB-21A9355940F1}" type="slidenum">
              <a:t>20</a:t>
            </a:fld>
            <a:endParaRPr lang="en-US"/>
          </a:p>
        </p:txBody>
      </p:sp>
    </p:spTree>
    <p:extLst>
      <p:ext uri="{BB962C8B-B14F-4D97-AF65-F5344CB8AC3E}">
        <p14:creationId xmlns:p14="http://schemas.microsoft.com/office/powerpoint/2010/main" val="1232305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has several notable strengths, including a modular codebase, clear separation of concerns, and a reproducible artifact-driven workflow. The use of a quality threshold for model selection reflects practical engineering judgment. However, the project also acknowledges current gaps, such as the absence of automated testing, formal data validation, experiment tracking, and continuous integration pipelines. Presenting both strengths and limitations demonstrates honesty and maturity, showing that the creator understands what is required for production readiness. This balanced evaluation is a hallmark of a well-mannered and credible technical presentation.</a:t>
            </a:r>
          </a:p>
        </p:txBody>
      </p:sp>
      <p:sp>
        <p:nvSpPr>
          <p:cNvPr id="4" name="Slide Number Placeholder 3"/>
          <p:cNvSpPr>
            <a:spLocks noGrp="1"/>
          </p:cNvSpPr>
          <p:nvPr>
            <p:ph type="sldNum" sz="quarter" idx="5"/>
          </p:nvPr>
        </p:nvSpPr>
        <p:spPr/>
        <p:txBody>
          <a:bodyPr/>
          <a:lstStyle/>
          <a:p>
            <a:fld id="{B9003CCA-9F94-49BC-B0CB-21A9355940F1}" type="slidenum">
              <a:t>21</a:t>
            </a:fld>
            <a:endParaRPr lang="en-US"/>
          </a:p>
        </p:txBody>
      </p:sp>
    </p:spTree>
    <p:extLst>
      <p:ext uri="{BB962C8B-B14F-4D97-AF65-F5344CB8AC3E}">
        <p14:creationId xmlns:p14="http://schemas.microsoft.com/office/powerpoint/2010/main" val="1192266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Planned Improvements and Extensions</a:t>
            </a:r>
          </a:p>
        </p:txBody>
      </p:sp>
      <p:sp>
        <p:nvSpPr>
          <p:cNvPr id="4" name="Slide Number Placeholder 3"/>
          <p:cNvSpPr>
            <a:spLocks noGrp="1"/>
          </p:cNvSpPr>
          <p:nvPr>
            <p:ph type="sldNum" sz="quarter" idx="5"/>
          </p:nvPr>
        </p:nvSpPr>
        <p:spPr/>
        <p:txBody>
          <a:bodyPr/>
          <a:lstStyle/>
          <a:p>
            <a:fld id="{B9003CCA-9F94-49BC-B0CB-21A9355940F1}" type="slidenum">
              <a:t>22</a:t>
            </a:fld>
            <a:endParaRPr lang="en-US"/>
          </a:p>
        </p:txBody>
      </p:sp>
    </p:spTree>
    <p:extLst>
      <p:ext uri="{BB962C8B-B14F-4D97-AF65-F5344CB8AC3E}">
        <p14:creationId xmlns:p14="http://schemas.microsoft.com/office/powerpoint/2010/main" val="1687510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Future improvements for the system focus on increasing robustness, maintainability, and scalability. Planned enhancements include adding unit and integration tests, implementing schema and range validation for input data, introducing experiment tracking tools, and containerizing the application using Docker. Additional improvements such as health-check endpoints, API versioning, and automated CI/CD pipelines would further align the system with production standards. Discussing these next steps shows forward thinking and signals readiness to evolve the project beyond its current state, which is valuable in both academic and professional contexts.</a:t>
            </a:r>
          </a:p>
        </p:txBody>
      </p:sp>
      <p:sp>
        <p:nvSpPr>
          <p:cNvPr id="4" name="Slide Number Placeholder 3"/>
          <p:cNvSpPr>
            <a:spLocks noGrp="1"/>
          </p:cNvSpPr>
          <p:nvPr>
            <p:ph type="sldNum" sz="quarter" idx="5"/>
          </p:nvPr>
        </p:nvSpPr>
        <p:spPr/>
        <p:txBody>
          <a:bodyPr/>
          <a:lstStyle/>
          <a:p>
            <a:fld id="{B9003CCA-9F94-49BC-B0CB-21A9355940F1}" type="slidenum">
              <a:t>23</a:t>
            </a:fld>
            <a:endParaRPr lang="en-US"/>
          </a:p>
        </p:txBody>
      </p:sp>
    </p:spTree>
    <p:extLst>
      <p:ext uri="{BB962C8B-B14F-4D97-AF65-F5344CB8AC3E}">
        <p14:creationId xmlns:p14="http://schemas.microsoft.com/office/powerpoint/2010/main" val="443681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and Educational Value</a:t>
            </a:r>
          </a:p>
        </p:txBody>
      </p:sp>
      <p:sp>
        <p:nvSpPr>
          <p:cNvPr id="4" name="Slide Number Placeholder 3"/>
          <p:cNvSpPr>
            <a:spLocks noGrp="1"/>
          </p:cNvSpPr>
          <p:nvPr>
            <p:ph type="sldNum" sz="quarter" idx="5"/>
          </p:nvPr>
        </p:nvSpPr>
        <p:spPr/>
        <p:txBody>
          <a:bodyPr/>
          <a:lstStyle/>
          <a:p>
            <a:fld id="{B9003CCA-9F94-49BC-B0CB-21A9355940F1}" type="slidenum">
              <a:t>24</a:t>
            </a:fld>
            <a:endParaRPr lang="en-US"/>
          </a:p>
        </p:txBody>
      </p:sp>
    </p:spTree>
    <p:extLst>
      <p:ext uri="{BB962C8B-B14F-4D97-AF65-F5344CB8AC3E}">
        <p14:creationId xmlns:p14="http://schemas.microsoft.com/office/powerpoint/2010/main" val="619800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project demonstrates strong practical and educational value by combining theoretical ML concepts with real-world engineering implementation. It serves as a concrete example of how data science, machine learning, and software development intersect to solve applied problems. For learners, it reinforces best practices such as reproducibility, evaluation discipline, and deployment awareness. For institutions or reviewers, it showcases the ability to deliver a complete, usable system. Emphasizing impact helps the audience appreciate the broader significance of the work beyond individual technical components.</a:t>
            </a:r>
          </a:p>
        </p:txBody>
      </p:sp>
      <p:sp>
        <p:nvSpPr>
          <p:cNvPr id="4" name="Slide Number Placeholder 3"/>
          <p:cNvSpPr>
            <a:spLocks noGrp="1"/>
          </p:cNvSpPr>
          <p:nvPr>
            <p:ph type="sldNum" sz="quarter" idx="5"/>
          </p:nvPr>
        </p:nvSpPr>
        <p:spPr/>
        <p:txBody>
          <a:bodyPr/>
          <a:lstStyle/>
          <a:p>
            <a:fld id="{B9003CCA-9F94-49BC-B0CB-21A9355940F1}" type="slidenum">
              <a:t>25</a:t>
            </a:fld>
            <a:endParaRPr lang="en-US"/>
          </a:p>
        </p:txBody>
      </p:sp>
    </p:spTree>
    <p:extLst>
      <p:ext uri="{BB962C8B-B14F-4D97-AF65-F5344CB8AC3E}">
        <p14:creationId xmlns:p14="http://schemas.microsoft.com/office/powerpoint/2010/main" val="12779300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Key Takeaways</a:t>
            </a:r>
          </a:p>
        </p:txBody>
      </p:sp>
      <p:sp>
        <p:nvSpPr>
          <p:cNvPr id="4" name="Slide Number Placeholder 3"/>
          <p:cNvSpPr>
            <a:spLocks noGrp="1"/>
          </p:cNvSpPr>
          <p:nvPr>
            <p:ph type="sldNum" sz="quarter" idx="5"/>
          </p:nvPr>
        </p:nvSpPr>
        <p:spPr/>
        <p:txBody>
          <a:bodyPr/>
          <a:lstStyle/>
          <a:p>
            <a:fld id="{B9003CCA-9F94-49BC-B0CB-21A9355940F1}" type="slidenum">
              <a:t>26</a:t>
            </a:fld>
            <a:endParaRPr lang="en-US"/>
          </a:p>
        </p:txBody>
      </p:sp>
    </p:spTree>
    <p:extLst>
      <p:ext uri="{BB962C8B-B14F-4D97-AF65-F5344CB8AC3E}">
        <p14:creationId xmlns:p14="http://schemas.microsoft.com/office/powerpoint/2010/main" val="24799595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conclusion, the Student Exam Performance Prediction System represents a well-mannered and professionally structured machine learning project. It clearly defines a real-world problem, applies appropriate data preprocessing and modeling techniques, and delivers predictions through a deployed web application. The project emphasizes not only model performance but also engineering quality, reproducibility, and usability. By acknowledging limitations and outlining future improvements, it demonstrates maturity and readiness for further development. Overall, this presentation highlights the full ML lifecycle in a clear, organized, and impactful way, making it suitable for academic evaluation, interviews, or portfolio presentation.</a:t>
            </a:r>
          </a:p>
        </p:txBody>
      </p:sp>
      <p:sp>
        <p:nvSpPr>
          <p:cNvPr id="4" name="Slide Number Placeholder 3"/>
          <p:cNvSpPr>
            <a:spLocks noGrp="1"/>
          </p:cNvSpPr>
          <p:nvPr>
            <p:ph type="sldNum" sz="quarter" idx="5"/>
          </p:nvPr>
        </p:nvSpPr>
        <p:spPr/>
        <p:txBody>
          <a:bodyPr/>
          <a:lstStyle/>
          <a:p>
            <a:fld id="{B9003CCA-9F94-49BC-B0CB-21A9355940F1}" type="slidenum">
              <a:t>27</a:t>
            </a:fld>
            <a:endParaRPr lang="en-US"/>
          </a:p>
        </p:txBody>
      </p:sp>
    </p:spTree>
    <p:extLst>
      <p:ext uri="{BB962C8B-B14F-4D97-AF65-F5344CB8AC3E}">
        <p14:creationId xmlns:p14="http://schemas.microsoft.com/office/powerpoint/2010/main" val="2788011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3677990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4582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42502706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380630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1588306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2536015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402532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356286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1888660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41825877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583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45363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dirty="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250814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0867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028135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2396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605989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41406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992090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925209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92676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54850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923703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423015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1488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828838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9852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349160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810330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62482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109440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807841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310759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339606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761371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a:t>##%</a:t>
            </a:r>
          </a:p>
        </p:txBody>
      </p:sp>
    </p:spTree>
    <p:extLst>
      <p:ext uri="{BB962C8B-B14F-4D97-AF65-F5344CB8AC3E}">
        <p14:creationId xmlns:p14="http://schemas.microsoft.com/office/powerpoint/2010/main" val="28198033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a:t>##%</a:t>
            </a:r>
          </a:p>
        </p:txBody>
      </p:sp>
    </p:spTree>
    <p:extLst>
      <p:ext uri="{BB962C8B-B14F-4D97-AF65-F5344CB8AC3E}">
        <p14:creationId xmlns:p14="http://schemas.microsoft.com/office/powerpoint/2010/main" val="9076306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a:t>##%</a:t>
            </a:r>
          </a:p>
        </p:txBody>
      </p:sp>
    </p:spTree>
    <p:extLst>
      <p:ext uri="{BB962C8B-B14F-4D97-AF65-F5344CB8AC3E}">
        <p14:creationId xmlns:p14="http://schemas.microsoft.com/office/powerpoint/2010/main" val="970438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47152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50548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66109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9190020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116122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500401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035815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8292012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621126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473135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51170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6486866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800551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4370997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3386757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0FA9-66BF-4744-C4C4-E5144F8F90F1}"/>
              </a:ext>
            </a:extLst>
          </p:cNvPr>
          <p:cNvSpPr>
            <a:spLocks noGrp="1"/>
          </p:cNvSpPr>
          <p:nvPr>
            <p:ph type="ctrTitle"/>
          </p:nvPr>
        </p:nvSpPr>
        <p:spPr>
          <a:xfrm>
            <a:off x="4480560" y="1940052"/>
            <a:ext cx="6502400" cy="1295400"/>
          </a:xfrm>
        </p:spPr>
        <p:txBody>
          <a:bodyPr>
            <a:noAutofit/>
          </a:bodyPr>
          <a:lstStyle/>
          <a:p>
            <a:r>
              <a:rPr lang="en-US" sz="2400" b="1" dirty="0"/>
              <a:t>Student Exam Performance Prediction System</a:t>
            </a:r>
          </a:p>
        </p:txBody>
      </p:sp>
      <p:sp>
        <p:nvSpPr>
          <p:cNvPr id="3" name="Subtitle 2">
            <a:extLst>
              <a:ext uri="{FF2B5EF4-FFF2-40B4-BE49-F238E27FC236}">
                <a16:creationId xmlns:a16="http://schemas.microsoft.com/office/drawing/2014/main" id="{6D939B1F-E97A-5F84-F773-9E1523D21AFA}"/>
              </a:ext>
            </a:extLst>
          </p:cNvPr>
          <p:cNvSpPr>
            <a:spLocks noGrp="1"/>
          </p:cNvSpPr>
          <p:nvPr>
            <p:ph type="subTitle" idx="1"/>
          </p:nvPr>
        </p:nvSpPr>
        <p:spPr>
          <a:xfrm>
            <a:off x="6096000" y="3830574"/>
            <a:ext cx="5029200" cy="685800"/>
          </a:xfrm>
        </p:spPr>
        <p:txBody>
          <a:bodyPr/>
          <a:lstStyle/>
          <a:p>
            <a:r>
              <a:rPr lang="en-US" dirty="0"/>
              <a:t>Analyzing data to forecast academic success outcomes</a:t>
            </a:r>
          </a:p>
        </p:txBody>
      </p:sp>
      <p:sp>
        <p:nvSpPr>
          <p:cNvPr id="12" name="Text 1"/>
          <p:cNvSpPr/>
          <p:nvPr/>
        </p:nvSpPr>
        <p:spPr>
          <a:xfrm>
            <a:off x="7209546" y="5111496"/>
            <a:ext cx="4858408"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ML Project Presentation · March 2026</a:t>
            </a:r>
            <a:endParaRPr lang="en-US" sz="1900" dirty="0"/>
          </a:p>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Presented by </a:t>
            </a:r>
            <a:r>
              <a:rPr lang="en-US" sz="1900" b="1" dirty="0">
                <a:solidFill>
                  <a:srgbClr val="E2E6E9"/>
                </a:solidFill>
                <a:latin typeface="Merriweather" pitchFamily="34" charset="0"/>
                <a:ea typeface="Merriweather" pitchFamily="34" charset="-122"/>
                <a:cs typeface="Merriweather" pitchFamily="34" charset="-120"/>
              </a:rPr>
              <a:t>Yubaraj Mahato</a:t>
            </a:r>
          </a:p>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Domain: Data Science </a:t>
            </a:r>
          </a:p>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 Internship ID: UMID25122576211</a:t>
            </a:r>
            <a:endParaRPr lang="en-US" sz="1900" dirty="0"/>
          </a:p>
        </p:txBody>
      </p:sp>
    </p:spTree>
    <p:extLst>
      <p:ext uri="{BB962C8B-B14F-4D97-AF65-F5344CB8AC3E}">
        <p14:creationId xmlns:p14="http://schemas.microsoft.com/office/powerpoint/2010/main" val="3327177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7430C-F69C-6281-F79A-C161B94787F1}"/>
              </a:ext>
            </a:extLst>
          </p:cNvPr>
          <p:cNvSpPr>
            <a:spLocks noGrp="1"/>
          </p:cNvSpPr>
          <p:nvPr>
            <p:ph type="ctrTitle"/>
          </p:nvPr>
        </p:nvSpPr>
        <p:spPr>
          <a:xfrm>
            <a:off x="2161514" y="2476500"/>
            <a:ext cx="7868972" cy="1905000"/>
          </a:xfrm>
        </p:spPr>
        <p:txBody>
          <a:bodyPr anchor="ctr">
            <a:normAutofit/>
          </a:bodyPr>
          <a:lstStyle/>
          <a:p>
            <a:r>
              <a:rPr lang="en-US"/>
              <a:t>Project Context and Purpose</a:t>
            </a:r>
          </a:p>
        </p:txBody>
      </p:sp>
    </p:spTree>
    <p:extLst>
      <p:ext uri="{BB962C8B-B14F-4D97-AF65-F5344CB8AC3E}">
        <p14:creationId xmlns:p14="http://schemas.microsoft.com/office/powerpoint/2010/main" val="8597750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3057-021C-8C1F-1D01-C0AD7A3C2916}"/>
              </a:ext>
            </a:extLst>
          </p:cNvPr>
          <p:cNvSpPr>
            <a:spLocks noGrp="1"/>
          </p:cNvSpPr>
          <p:nvPr>
            <p:ph type="title"/>
          </p:nvPr>
        </p:nvSpPr>
        <p:spPr>
          <a:xfrm>
            <a:off x="678871" y="685800"/>
            <a:ext cx="4274130" cy="1269482"/>
          </a:xfrm>
        </p:spPr>
        <p:txBody>
          <a:bodyPr anchor="t">
            <a:normAutofit/>
          </a:bodyPr>
          <a:lstStyle/>
          <a:p>
            <a:pPr>
              <a:lnSpc>
                <a:spcPct val="90000"/>
              </a:lnSpc>
            </a:pPr>
            <a:r>
              <a:rPr lang="en-US" sz="2000"/>
              <a:t>Student Exam Performance Prediction System Overview</a:t>
            </a:r>
          </a:p>
        </p:txBody>
      </p:sp>
      <p:pic>
        <p:nvPicPr>
          <p:cNvPr id="6" name="Content Placeholder 5" descr="Cloud computing concept isolated on white background">
            <a:extLst>
              <a:ext uri="{FF2B5EF4-FFF2-40B4-BE49-F238E27FC236}">
                <a16:creationId xmlns:a16="http://schemas.microsoft.com/office/drawing/2014/main" id="{F552D83A-2DFC-424B-B178-A4947204DAE8}"/>
              </a:ext>
            </a:extLst>
          </p:cNvPr>
          <p:cNvPicPr>
            <a:picLocks noGrp="1" noChangeAspect="1"/>
          </p:cNvPicPr>
          <p:nvPr>
            <p:ph type="pic" sz="quarter" idx="13"/>
          </p:nvPr>
        </p:nvPicPr>
        <p:blipFill>
          <a:blip r:embed="rId3"/>
          <a:srcRect l="8553" r="10571"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B9AD342B-1140-6D19-D6C0-1233E42339B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End-to-End ML Lifecycle</a:t>
            </a:r>
          </a:p>
          <a:p>
            <a:pPr marL="0" lvl="1" indent="0">
              <a:buFont typeface="Arial" panose="020B0604020202020204" pitchFamily="34" charset="0"/>
              <a:buNone/>
            </a:pPr>
            <a:r>
              <a:t>The system demonstrates a complete ML lifecycle from problem definition to cloud deployment, showcasing practical engineering.</a:t>
            </a:r>
            <a:endParaRPr lang="en-US"/>
          </a:p>
          <a:p>
            <a:pPr marL="0" indent="0">
              <a:spcBef>
                <a:spcPts val="2500"/>
              </a:spcBef>
              <a:buFont typeface="Arial" panose="020B0604020202020204" pitchFamily="34" charset="0"/>
              <a:buNone/>
            </a:pPr>
            <a:r>
              <a:rPr lang="en-US" b="1"/>
              <a:t>Predicting Student Scores</a:t>
            </a:r>
          </a:p>
          <a:p>
            <a:pPr marL="0" lvl="1" indent="0">
              <a:buFont typeface="Arial" panose="020B0604020202020204" pitchFamily="34" charset="0"/>
              <a:buNone/>
            </a:pPr>
            <a:r>
              <a:t>Predicts mathematics scores using demographic, socio-economic, and academic indicators for early risk detection.</a:t>
            </a:r>
            <a:endParaRPr lang="en-US"/>
          </a:p>
          <a:p>
            <a:pPr marL="0" indent="0">
              <a:spcBef>
                <a:spcPts val="2500"/>
              </a:spcBef>
              <a:buFont typeface="Arial" panose="020B0604020202020204" pitchFamily="34" charset="0"/>
              <a:buNone/>
            </a:pPr>
            <a:r>
              <a:rPr lang="en-US" b="1"/>
              <a:t>Modular System Architecture</a:t>
            </a:r>
          </a:p>
          <a:p>
            <a:pPr marL="0" lvl="1" indent="0">
              <a:buFont typeface="Arial" panose="020B0604020202020204" pitchFamily="34" charset="0"/>
              <a:buNone/>
            </a:pPr>
            <a:r>
              <a:t>Features training and inference pipelines with model evaluation and serving through a Flask web app.</a:t>
            </a:r>
            <a:endParaRPr lang="en-US"/>
          </a:p>
          <a:p>
            <a:pPr marL="0" indent="0">
              <a:spcBef>
                <a:spcPts val="2500"/>
              </a:spcBef>
              <a:buFont typeface="Arial" panose="020B0604020202020204" pitchFamily="34" charset="0"/>
              <a:buNone/>
            </a:pPr>
            <a:r>
              <a:rPr lang="en-US" b="1"/>
              <a:t>Educational Impact</a:t>
            </a:r>
          </a:p>
          <a:p>
            <a:pPr marL="0" lvl="1" indent="0">
              <a:buFont typeface="Arial" panose="020B0604020202020204" pitchFamily="34" charset="0"/>
              <a:buNone/>
            </a:pPr>
            <a:r>
              <a:t>Enables early academic risk identification allowing timely intervention and improved student outcomes.</a:t>
            </a:r>
            <a:endParaRPr lang="en-US"/>
          </a:p>
        </p:txBody>
      </p:sp>
    </p:spTree>
    <p:extLst>
      <p:ext uri="{BB962C8B-B14F-4D97-AF65-F5344CB8AC3E}">
        <p14:creationId xmlns:p14="http://schemas.microsoft.com/office/powerpoint/2010/main" val="805897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8F53-0357-928B-FA8D-BF813C5B4B91}"/>
              </a:ext>
            </a:extLst>
          </p:cNvPr>
          <p:cNvSpPr>
            <a:spLocks noGrp="1"/>
          </p:cNvSpPr>
          <p:nvPr>
            <p:ph type="ctrTitle"/>
          </p:nvPr>
        </p:nvSpPr>
        <p:spPr>
          <a:xfrm>
            <a:off x="2161514" y="2476500"/>
            <a:ext cx="7868972" cy="1905000"/>
          </a:xfrm>
        </p:spPr>
        <p:txBody>
          <a:bodyPr anchor="ctr">
            <a:normAutofit/>
          </a:bodyPr>
          <a:lstStyle/>
          <a:p>
            <a:r>
              <a:rPr lang="en-US"/>
              <a:t>Problem Definition</a:t>
            </a:r>
          </a:p>
        </p:txBody>
      </p:sp>
    </p:spTree>
    <p:extLst>
      <p:ext uri="{BB962C8B-B14F-4D97-AF65-F5344CB8AC3E}">
        <p14:creationId xmlns:p14="http://schemas.microsoft.com/office/powerpoint/2010/main" val="982839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BCDF-D34D-D4B1-0C8A-F67D176826D2}"/>
              </a:ext>
            </a:extLst>
          </p:cNvPr>
          <p:cNvSpPr>
            <a:spLocks noGrp="1"/>
          </p:cNvSpPr>
          <p:nvPr>
            <p:ph type="title"/>
          </p:nvPr>
        </p:nvSpPr>
        <p:spPr>
          <a:xfrm>
            <a:off x="678871" y="685800"/>
            <a:ext cx="4274130" cy="1269482"/>
          </a:xfrm>
        </p:spPr>
        <p:txBody>
          <a:bodyPr anchor="t">
            <a:normAutofit/>
          </a:bodyPr>
          <a:lstStyle/>
          <a:p>
            <a:pPr>
              <a:lnSpc>
                <a:spcPct val="90000"/>
              </a:lnSpc>
            </a:pPr>
            <a:r>
              <a:rPr lang="en-US" sz="2200"/>
              <a:t>Business Problem in Educational Analytics</a:t>
            </a:r>
          </a:p>
        </p:txBody>
      </p:sp>
      <p:pic>
        <p:nvPicPr>
          <p:cNvPr id="6" name="Content Placeholder 5" descr="Sales team analyze sales reports together in meeting room">
            <a:extLst>
              <a:ext uri="{FF2B5EF4-FFF2-40B4-BE49-F238E27FC236}">
                <a16:creationId xmlns:a16="http://schemas.microsoft.com/office/drawing/2014/main" id="{247B7BE9-35D6-49C9-89A4-F47349B1701B}"/>
              </a:ext>
            </a:extLst>
          </p:cNvPr>
          <p:cNvPicPr>
            <a:picLocks noGrp="1" noChangeAspect="1"/>
          </p:cNvPicPr>
          <p:nvPr>
            <p:ph type="pic" sz="quarter" idx="13"/>
          </p:nvPr>
        </p:nvPicPr>
        <p:blipFill>
          <a:blip r:embed="rId3"/>
          <a:srcRect l="13754" r="14266"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649DE645-787C-85DD-19FB-8E810665C3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Challenges in Identifying Underperformance</a:t>
            </a:r>
          </a:p>
          <a:p>
            <a:pPr marL="0" lvl="1" indent="0">
              <a:buFont typeface="Arial" panose="020B0604020202020204" pitchFamily="34" charset="0"/>
              <a:buNone/>
            </a:pPr>
            <a:r>
              <a:t>Institutions face delays and inconsistencies in spotting students at risk using manual, subjective methods.</a:t>
            </a:r>
            <a:endParaRPr lang="en-US"/>
          </a:p>
          <a:p>
            <a:pPr marL="0" indent="0">
              <a:spcBef>
                <a:spcPts val="2500"/>
              </a:spcBef>
              <a:buFont typeface="Arial" panose="020B0604020202020204" pitchFamily="34" charset="0"/>
              <a:buNone/>
            </a:pPr>
            <a:r>
              <a:rPr lang="en-US" b="1"/>
              <a:t>Need for Data-Driven Tools</a:t>
            </a:r>
          </a:p>
          <a:p>
            <a:pPr marL="0" lvl="1" indent="0">
              <a:buFont typeface="Arial" panose="020B0604020202020204" pitchFamily="34" charset="0"/>
              <a:buNone/>
            </a:pPr>
            <a:r>
              <a:t>A scalable, automated system is needed to provide early indicators of student math performance.</a:t>
            </a:r>
            <a:endParaRPr lang="en-US"/>
          </a:p>
          <a:p>
            <a:pPr marL="0" indent="0">
              <a:spcBef>
                <a:spcPts val="2500"/>
              </a:spcBef>
              <a:buFont typeface="Arial" panose="020B0604020202020204" pitchFamily="34" charset="0"/>
              <a:buNone/>
            </a:pPr>
            <a:r>
              <a:rPr lang="en-US" b="1"/>
              <a:t>Machine Learning Application</a:t>
            </a:r>
          </a:p>
          <a:p>
            <a:pPr marL="0" lvl="1" indent="0">
              <a:buFont typeface="Arial" panose="020B0604020202020204" pitchFamily="34" charset="0"/>
              <a:buNone/>
            </a:pPr>
            <a:r>
              <a:t>Using supervised regression, math scores are predicted to enable proactive decision-making and targeted support.</a:t>
            </a:r>
            <a:endParaRPr lang="en-US"/>
          </a:p>
          <a:p>
            <a:pPr marL="0" indent="0">
              <a:spcBef>
                <a:spcPts val="2500"/>
              </a:spcBef>
              <a:buFont typeface="Arial" panose="020B0604020202020204" pitchFamily="34" charset="0"/>
              <a:buNone/>
            </a:pPr>
            <a:r>
              <a:rPr lang="en-US" b="1"/>
              <a:t>Business Impact</a:t>
            </a:r>
          </a:p>
          <a:p>
            <a:pPr marL="0" lvl="1" indent="0">
              <a:buFont typeface="Arial" panose="020B0604020202020204" pitchFamily="34" charset="0"/>
              <a:buNone/>
            </a:pPr>
            <a:r>
              <a:t>Predictive insights help allocate resources efficiently and improve academic outcomes through timely interventions.</a:t>
            </a:r>
            <a:endParaRPr lang="en-US"/>
          </a:p>
        </p:txBody>
      </p:sp>
    </p:spTree>
    <p:extLst>
      <p:ext uri="{BB962C8B-B14F-4D97-AF65-F5344CB8AC3E}">
        <p14:creationId xmlns:p14="http://schemas.microsoft.com/office/powerpoint/2010/main" val="328484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8F12-6CB8-BB93-14CE-2FBF2E9C4AE5}"/>
              </a:ext>
            </a:extLst>
          </p:cNvPr>
          <p:cNvSpPr>
            <a:spLocks noGrp="1"/>
          </p:cNvSpPr>
          <p:nvPr>
            <p:ph type="ctrTitle"/>
          </p:nvPr>
        </p:nvSpPr>
        <p:spPr/>
        <p:txBody>
          <a:bodyPr/>
          <a:lstStyle/>
          <a:p>
            <a:r>
              <a:rPr lang="en-US"/>
              <a:t>Project Goals</a:t>
            </a:r>
          </a:p>
        </p:txBody>
      </p:sp>
    </p:spTree>
    <p:extLst>
      <p:ext uri="{BB962C8B-B14F-4D97-AF65-F5344CB8AC3E}">
        <p14:creationId xmlns:p14="http://schemas.microsoft.com/office/powerpoint/2010/main" val="2479987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D8EB8-F88B-C377-95FD-1917F94D6B7B}"/>
              </a:ext>
            </a:extLst>
          </p:cNvPr>
          <p:cNvSpPr>
            <a:spLocks noGrp="1"/>
          </p:cNvSpPr>
          <p:nvPr>
            <p:ph type="title"/>
          </p:nvPr>
        </p:nvSpPr>
        <p:spPr>
          <a:xfrm>
            <a:off x="678871" y="685800"/>
            <a:ext cx="4274130" cy="1269482"/>
          </a:xfrm>
        </p:spPr>
        <p:txBody>
          <a:bodyPr anchor="t">
            <a:normAutofit/>
          </a:bodyPr>
          <a:lstStyle/>
          <a:p>
            <a:pPr>
              <a:lnSpc>
                <a:spcPct val="90000"/>
              </a:lnSpc>
            </a:pPr>
            <a:r>
              <a:rPr lang="en-US"/>
              <a:t>Objectives and Success Criteria</a:t>
            </a:r>
          </a:p>
        </p:txBody>
      </p:sp>
      <p:pic>
        <p:nvPicPr>
          <p:cNvPr id="6" name="Content Placeholder 5"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674AC42C-1761-4613-AEB2-7EEB73E68241}"/>
              </a:ext>
            </a:extLst>
          </p:cNvPr>
          <p:cNvPicPr>
            <a:picLocks noGrp="1" noChangeAspect="1"/>
          </p:cNvPicPr>
          <p:nvPr>
            <p:ph type="pic" sz="quarter" idx="13"/>
          </p:nvPr>
        </p:nvPicPr>
        <p:blipFill>
          <a:blip r:embed="rId3"/>
          <a:srcRect l="7123" r="20898"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52EBDF91-A93D-BBA8-F0CD-CB99CAE83DD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Comprehensive Project Goals</a:t>
            </a:r>
          </a:p>
          <a:p>
            <a:pPr marL="0" lvl="1" indent="0">
              <a:buFont typeface="Arial" panose="020B0604020202020204" pitchFamily="34" charset="0"/>
              <a:buNone/>
            </a:pPr>
            <a:r>
              <a:t>Project aims for reproducible ML pipelines predicting student scores with focus on accuracy and modularity.</a:t>
            </a:r>
            <a:endParaRPr lang="en-US"/>
          </a:p>
          <a:p>
            <a:pPr marL="0" indent="0">
              <a:spcBef>
                <a:spcPts val="2500"/>
              </a:spcBef>
              <a:buFont typeface="Arial" panose="020B0604020202020204" pitchFamily="34" charset="0"/>
              <a:buNone/>
            </a:pPr>
            <a:r>
              <a:rPr lang="en-US" b="1"/>
              <a:t>Model Training and Evaluation</a:t>
            </a:r>
          </a:p>
          <a:p>
            <a:pPr marL="0" lvl="1" indent="0">
              <a:buFont typeface="Arial" panose="020B0604020202020204" pitchFamily="34" charset="0"/>
              <a:buNone/>
            </a:pPr>
            <a:r>
              <a:t>Train multiple regression models and select the best based on test-set R² with quality thresholds.</a:t>
            </a:r>
            <a:endParaRPr lang="en-US"/>
          </a:p>
          <a:p>
            <a:pPr marL="0" indent="0">
              <a:spcBef>
                <a:spcPts val="2500"/>
              </a:spcBef>
              <a:buFont typeface="Arial" panose="020B0604020202020204" pitchFamily="34" charset="0"/>
              <a:buNone/>
            </a:pPr>
            <a:r>
              <a:rPr lang="en-US" b="1"/>
              <a:t>Engineering Best Practices</a:t>
            </a:r>
          </a:p>
          <a:p>
            <a:pPr marL="0" lvl="1" indent="0">
              <a:buFont typeface="Arial" panose="020B0604020202020204" pitchFamily="34" charset="0"/>
              <a:buNone/>
            </a:pPr>
            <a:r>
              <a:t>Separate training and inference logic, persist artifacts, and log executions to ensure maintainability.</a:t>
            </a:r>
            <a:endParaRPr lang="en-US"/>
          </a:p>
          <a:p>
            <a:pPr marL="0" indent="0">
              <a:spcBef>
                <a:spcPts val="2500"/>
              </a:spcBef>
              <a:buFont typeface="Arial" panose="020B0604020202020204" pitchFamily="34" charset="0"/>
              <a:buNone/>
            </a:pPr>
            <a:r>
              <a:rPr lang="en-US" b="1"/>
              <a:t>User-Friendly Interface</a:t>
            </a:r>
          </a:p>
          <a:p>
            <a:pPr marL="0" lvl="1" indent="0">
              <a:buFont typeface="Arial" panose="020B0604020202020204" pitchFamily="34" charset="0"/>
              <a:buNone/>
            </a:pPr>
            <a:r>
              <a:t>Provide intuitive web interface exposing ML predictions to non-technical users effectively.</a:t>
            </a:r>
            <a:endParaRPr lang="en-US"/>
          </a:p>
        </p:txBody>
      </p:sp>
    </p:spTree>
    <p:extLst>
      <p:ext uri="{BB962C8B-B14F-4D97-AF65-F5344CB8AC3E}">
        <p14:creationId xmlns:p14="http://schemas.microsoft.com/office/powerpoint/2010/main" val="7415566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7329E-709E-02C8-5AA6-1980A6104FF8}"/>
              </a:ext>
            </a:extLst>
          </p:cNvPr>
          <p:cNvSpPr>
            <a:spLocks noGrp="1"/>
          </p:cNvSpPr>
          <p:nvPr>
            <p:ph type="ctrTitle"/>
          </p:nvPr>
        </p:nvSpPr>
        <p:spPr>
          <a:xfrm>
            <a:off x="2161514" y="2476500"/>
            <a:ext cx="7868972" cy="1905000"/>
          </a:xfrm>
        </p:spPr>
        <p:txBody>
          <a:bodyPr anchor="ctr">
            <a:normAutofit/>
          </a:bodyPr>
          <a:lstStyle/>
          <a:p>
            <a:r>
              <a:rPr lang="en-US"/>
              <a:t>Data Understanding</a:t>
            </a:r>
          </a:p>
        </p:txBody>
      </p:sp>
    </p:spTree>
    <p:extLst>
      <p:ext uri="{BB962C8B-B14F-4D97-AF65-F5344CB8AC3E}">
        <p14:creationId xmlns:p14="http://schemas.microsoft.com/office/powerpoint/2010/main" val="17301989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2748-ABC1-4CE2-595C-6DB77472F25B}"/>
              </a:ext>
            </a:extLst>
          </p:cNvPr>
          <p:cNvSpPr>
            <a:spLocks noGrp="1"/>
          </p:cNvSpPr>
          <p:nvPr>
            <p:ph type="ctrTitle"/>
          </p:nvPr>
        </p:nvSpPr>
        <p:spPr>
          <a:xfrm>
            <a:off x="2161514" y="2476500"/>
            <a:ext cx="7868972" cy="1905000"/>
          </a:xfrm>
        </p:spPr>
        <p:txBody>
          <a:bodyPr anchor="ctr">
            <a:normAutofit/>
          </a:bodyPr>
          <a:lstStyle/>
          <a:p>
            <a:r>
              <a:rPr lang="en-US"/>
              <a:t>System Workflow</a:t>
            </a:r>
          </a:p>
        </p:txBody>
      </p:sp>
    </p:spTree>
    <p:extLst>
      <p:ext uri="{BB962C8B-B14F-4D97-AF65-F5344CB8AC3E}">
        <p14:creationId xmlns:p14="http://schemas.microsoft.com/office/powerpoint/2010/main" val="9891862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59F18-385F-AA42-E277-E95B7CF6F6D7}"/>
              </a:ext>
            </a:extLst>
          </p:cNvPr>
          <p:cNvSpPr>
            <a:spLocks noGrp="1"/>
          </p:cNvSpPr>
          <p:nvPr>
            <p:ph type="title"/>
          </p:nvPr>
        </p:nvSpPr>
        <p:spPr>
          <a:xfrm>
            <a:off x="678871" y="685800"/>
            <a:ext cx="4274130" cy="1269482"/>
          </a:xfrm>
        </p:spPr>
        <p:txBody>
          <a:bodyPr anchor="t">
            <a:normAutofit/>
          </a:bodyPr>
          <a:lstStyle/>
          <a:p>
            <a:pPr>
              <a:lnSpc>
                <a:spcPct val="90000"/>
              </a:lnSpc>
            </a:pPr>
            <a:r>
              <a:rPr lang="en-US" sz="2200"/>
              <a:t>End-to-End Machine Learning Pipeline</a:t>
            </a:r>
          </a:p>
        </p:txBody>
      </p:sp>
      <p:pic>
        <p:nvPicPr>
          <p:cNvPr id="6" name="Content Placeholder 5" descr="Female drawing flow chart">
            <a:extLst>
              <a:ext uri="{FF2B5EF4-FFF2-40B4-BE49-F238E27FC236}">
                <a16:creationId xmlns:a16="http://schemas.microsoft.com/office/drawing/2014/main" id="{E8BA9150-5792-4480-81DA-65693978CA45}"/>
              </a:ext>
            </a:extLst>
          </p:cNvPr>
          <p:cNvPicPr>
            <a:picLocks noGrp="1" noChangeAspect="1"/>
          </p:cNvPicPr>
          <p:nvPr>
            <p:ph type="pic" sz="quarter" idx="13"/>
          </p:nvPr>
        </p:nvPicPr>
        <p:blipFill>
          <a:blip r:embed="rId3"/>
          <a:srcRect l="12503" r="16869" b="3"/>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9E69131D-B824-8CD5-64BB-A2BF1CB2B8D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Data Ingestion and Preparation</a:t>
            </a:r>
          </a:p>
          <a:p>
            <a:pPr marL="0" lvl="1" indent="0">
              <a:buFont typeface="Arial" panose="020B0604020202020204" pitchFamily="34" charset="0"/>
              <a:buNone/>
            </a:pPr>
            <a:r>
              <a:t>Raw CSV data is ingested, validated and split into training and test sets for unbiased model evaluation.</a:t>
            </a:r>
            <a:endParaRPr lang="en-US"/>
          </a:p>
          <a:p>
            <a:pPr marL="0" indent="0">
              <a:spcBef>
                <a:spcPts val="2500"/>
              </a:spcBef>
              <a:buFont typeface="Arial" panose="020B0604020202020204" pitchFamily="34" charset="0"/>
              <a:buNone/>
            </a:pPr>
            <a:r>
              <a:rPr lang="en-US" b="1"/>
              <a:t>Preprocessing Pipeline</a:t>
            </a:r>
          </a:p>
          <a:p>
            <a:pPr marL="0" lvl="1" indent="0">
              <a:buFont typeface="Arial" panose="020B0604020202020204" pitchFamily="34" charset="0"/>
              <a:buNone/>
            </a:pPr>
            <a:r>
              <a:t>Preprocessing handles missing values, scales numerical data, and encodes categorical features efficiently.</a:t>
            </a:r>
            <a:endParaRPr lang="en-US"/>
          </a:p>
          <a:p>
            <a:pPr marL="0" indent="0">
              <a:spcBef>
                <a:spcPts val="2500"/>
              </a:spcBef>
              <a:buFont typeface="Arial" panose="020B0604020202020204" pitchFamily="34" charset="0"/>
              <a:buNone/>
            </a:pPr>
            <a:r>
              <a:rPr lang="en-US" b="1"/>
              <a:t>Model Training and Selection</a:t>
            </a:r>
          </a:p>
          <a:p>
            <a:pPr marL="0" lvl="1" indent="0">
              <a:buFont typeface="Arial" panose="020B0604020202020204" pitchFamily="34" charset="0"/>
              <a:buNone/>
            </a:pPr>
            <a:r>
              <a:t>Multiple regression models are trained, tuned, and evaluated to select the best based on R² score.</a:t>
            </a:r>
            <a:endParaRPr lang="en-US"/>
          </a:p>
          <a:p>
            <a:pPr marL="0" indent="0">
              <a:spcBef>
                <a:spcPts val="2500"/>
              </a:spcBef>
              <a:buFont typeface="Arial" panose="020B0604020202020204" pitchFamily="34" charset="0"/>
              <a:buNone/>
            </a:pPr>
            <a:r>
              <a:rPr lang="en-US" b="1"/>
              <a:t>Model Deployment and Inference</a:t>
            </a:r>
          </a:p>
          <a:p>
            <a:pPr marL="0" lvl="1" indent="0">
              <a:buFont typeface="Arial" panose="020B0604020202020204" pitchFamily="34" charset="0"/>
              <a:buNone/>
            </a:pPr>
            <a:r>
              <a:t>The selected model and preprocessor are saved and deployed via a Flask web app for predictions.</a:t>
            </a:r>
            <a:endParaRPr lang="en-US"/>
          </a:p>
        </p:txBody>
      </p:sp>
    </p:spTree>
    <p:extLst>
      <p:ext uri="{BB962C8B-B14F-4D97-AF65-F5344CB8AC3E}">
        <p14:creationId xmlns:p14="http://schemas.microsoft.com/office/powerpoint/2010/main" val="8006960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59AE-F5BD-2D6B-1E13-832C0F668CD9}"/>
              </a:ext>
            </a:extLst>
          </p:cNvPr>
          <p:cNvSpPr>
            <a:spLocks noGrp="1"/>
          </p:cNvSpPr>
          <p:nvPr>
            <p:ph type="ctrTitle"/>
          </p:nvPr>
        </p:nvSpPr>
        <p:spPr>
          <a:xfrm>
            <a:off x="2161514" y="2476500"/>
            <a:ext cx="7868972" cy="1905000"/>
          </a:xfrm>
        </p:spPr>
        <p:txBody>
          <a:bodyPr anchor="ctr">
            <a:normAutofit/>
          </a:bodyPr>
          <a:lstStyle/>
          <a:p>
            <a:r>
              <a:rPr lang="en-US"/>
              <a:t>Data Preprocessing</a:t>
            </a:r>
          </a:p>
        </p:txBody>
      </p:sp>
    </p:spTree>
    <p:extLst>
      <p:ext uri="{BB962C8B-B14F-4D97-AF65-F5344CB8AC3E}">
        <p14:creationId xmlns:p14="http://schemas.microsoft.com/office/powerpoint/2010/main" val="205020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39AEB-4DE9-8D71-48E2-5623A427F14E}"/>
              </a:ext>
            </a:extLst>
          </p:cNvPr>
          <p:cNvSpPr>
            <a:spLocks noGrp="1"/>
          </p:cNvSpPr>
          <p:nvPr>
            <p:ph type="title"/>
          </p:nvPr>
        </p:nvSpPr>
        <p:spPr>
          <a:xfrm>
            <a:off x="678871" y="685800"/>
            <a:ext cx="10827330" cy="985966"/>
          </a:xfrm>
        </p:spPr>
        <p:txBody>
          <a:bodyPr anchor="t">
            <a:normAutofit/>
          </a:bodyPr>
          <a:lstStyle/>
          <a:p>
            <a:r>
              <a:rPr lang="en-US"/>
              <a:t>Numerical and Categorical Feature Processing</a:t>
            </a:r>
          </a:p>
        </p:txBody>
      </p:sp>
      <p:pic>
        <p:nvPicPr>
          <p:cNvPr id="6" name="Content Placeholder 5" descr="Global communication and collaboration intricately involving electronic ropes and keys through social networking of smart phones equipped with AI.">
            <a:extLst>
              <a:ext uri="{FF2B5EF4-FFF2-40B4-BE49-F238E27FC236}">
                <a16:creationId xmlns:a16="http://schemas.microsoft.com/office/drawing/2014/main" id="{01CA4BA4-29EB-4D60-B261-7AC85CE6BEEC}"/>
              </a:ext>
            </a:extLst>
          </p:cNvPr>
          <p:cNvPicPr>
            <a:picLocks noGrp="1" noChangeAspect="1"/>
          </p:cNvPicPr>
          <p:nvPr>
            <p:ph type="pic" sz="quarter" idx="13"/>
          </p:nvPr>
        </p:nvPicPr>
        <p:blipFill>
          <a:blip r:embed="rId3"/>
          <a:srcRect l="14602" r="6631" b="1"/>
          <a:stretch>
            <a:fillRect/>
          </a:stretch>
        </p:blipFill>
        <p:spPr>
          <a:xfrm>
            <a:off x="678871" y="1830774"/>
            <a:ext cx="5112329" cy="4332284"/>
          </a:xfrm>
        </p:spPr>
      </p:pic>
      <p:sp>
        <p:nvSpPr>
          <p:cNvPr id="4" name="Content Placeholder 3">
            <a:extLst>
              <a:ext uri="{FF2B5EF4-FFF2-40B4-BE49-F238E27FC236}">
                <a16:creationId xmlns:a16="http://schemas.microsoft.com/office/drawing/2014/main" id="{5E7F4E18-1031-22CD-51A3-EC51D1B679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62821" y="1830773"/>
            <a:ext cx="5143379" cy="4332284"/>
          </a:xfrm>
        </p:spPr>
        <p:txBody>
          <a:bodyPr>
            <a:normAutofit/>
          </a:bodyPr>
          <a:lstStyle/>
          <a:p>
            <a:pPr marL="0" indent="0">
              <a:spcBef>
                <a:spcPts val="2500"/>
              </a:spcBef>
              <a:buFont typeface="Arial" panose="020B0604020202020204" pitchFamily="34" charset="0"/>
              <a:buNone/>
            </a:pPr>
            <a:r>
              <a:rPr lang="en-US" b="1"/>
              <a:t>Numerical Feature Processing</a:t>
            </a:r>
          </a:p>
          <a:p>
            <a:pPr marL="0" lvl="1" indent="0">
              <a:buFont typeface="Arial" panose="020B0604020202020204" pitchFamily="34" charset="0"/>
              <a:buNone/>
            </a:pPr>
            <a:r>
              <a:t>Median imputation fills missing numerical data. Standard scaling normalizes ranges for better model convergence.</a:t>
            </a:r>
            <a:endParaRPr lang="en-US"/>
          </a:p>
          <a:p>
            <a:pPr marL="0" indent="0">
              <a:spcBef>
                <a:spcPts val="2500"/>
              </a:spcBef>
              <a:buFont typeface="Arial" panose="020B0604020202020204" pitchFamily="34" charset="0"/>
              <a:buNone/>
            </a:pPr>
            <a:r>
              <a:rPr lang="en-US" b="1"/>
              <a:t>Categorical Feature Processing</a:t>
            </a:r>
          </a:p>
          <a:p>
            <a:pPr marL="0" lvl="1" indent="0">
              <a:buFont typeface="Arial" panose="020B0604020202020204" pitchFamily="34" charset="0"/>
              <a:buNone/>
            </a:pPr>
            <a:r>
              <a:t>Most-frequent imputation handles missing categories. One-hot encoding converts categories to numerical form efficiently.</a:t>
            </a:r>
            <a:endParaRPr lang="en-US"/>
          </a:p>
          <a:p>
            <a:pPr marL="0" indent="0">
              <a:spcBef>
                <a:spcPts val="2500"/>
              </a:spcBef>
              <a:buFont typeface="Arial" panose="020B0604020202020204" pitchFamily="34" charset="0"/>
              <a:buNone/>
            </a:pPr>
            <a:r>
              <a:rPr lang="en-US" b="1"/>
              <a:t>Combined Pipeline Strategy</a:t>
            </a:r>
          </a:p>
          <a:p>
            <a:pPr marL="0" lvl="1" indent="0">
              <a:buFont typeface="Arial" panose="020B0604020202020204" pitchFamily="34" charset="0"/>
              <a:buNone/>
            </a:pPr>
            <a:r>
              <a:t>ColumnTransformer integrates separate pipelines for feature types, reducing data leakage and ensuring consistent preprocessing.</a:t>
            </a:r>
            <a:endParaRPr lang="en-US"/>
          </a:p>
        </p:txBody>
      </p:sp>
    </p:spTree>
    <p:extLst>
      <p:ext uri="{BB962C8B-B14F-4D97-AF65-F5344CB8AC3E}">
        <p14:creationId xmlns:p14="http://schemas.microsoft.com/office/powerpoint/2010/main" val="4220785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0D3E-18BD-A8B2-02B9-0BB1C9DE5756}"/>
              </a:ext>
            </a:extLst>
          </p:cNvPr>
          <p:cNvSpPr>
            <a:spLocks noGrp="1"/>
          </p:cNvSpPr>
          <p:nvPr>
            <p:ph type="ctrTitle"/>
          </p:nvPr>
        </p:nvSpPr>
        <p:spPr/>
        <p:txBody>
          <a:bodyPr/>
          <a:lstStyle/>
          <a:p>
            <a:r>
              <a:rPr lang="en-US"/>
              <a:t>Model Development</a:t>
            </a:r>
          </a:p>
        </p:txBody>
      </p:sp>
    </p:spTree>
    <p:extLst>
      <p:ext uri="{BB962C8B-B14F-4D97-AF65-F5344CB8AC3E}">
        <p14:creationId xmlns:p14="http://schemas.microsoft.com/office/powerpoint/2010/main" val="2284799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6DD9-16D3-EA5F-5066-A926C46906C4}"/>
              </a:ext>
            </a:extLst>
          </p:cNvPr>
          <p:cNvSpPr>
            <a:spLocks noGrp="1"/>
          </p:cNvSpPr>
          <p:nvPr>
            <p:ph type="title"/>
          </p:nvPr>
        </p:nvSpPr>
        <p:spPr>
          <a:xfrm>
            <a:off x="678871" y="685800"/>
            <a:ext cx="4274130" cy="1269482"/>
          </a:xfrm>
        </p:spPr>
        <p:txBody>
          <a:bodyPr anchor="t">
            <a:normAutofit/>
          </a:bodyPr>
          <a:lstStyle/>
          <a:p>
            <a:pPr>
              <a:lnSpc>
                <a:spcPct val="90000"/>
              </a:lnSpc>
            </a:pPr>
            <a:r>
              <a:rPr lang="en-US" sz="2200"/>
              <a:t>Regression Models and Training Strategy</a:t>
            </a:r>
          </a:p>
        </p:txBody>
      </p:sp>
      <p:pic>
        <p:nvPicPr>
          <p:cNvPr id="6" name="Content Placeholder 5" descr="Customer satisfaction survey feedback">
            <a:extLst>
              <a:ext uri="{FF2B5EF4-FFF2-40B4-BE49-F238E27FC236}">
                <a16:creationId xmlns:a16="http://schemas.microsoft.com/office/drawing/2014/main" id="{B7E39D89-596D-4BFF-ABD4-60E6BEA43C8D}"/>
              </a:ext>
            </a:extLst>
          </p:cNvPr>
          <p:cNvPicPr>
            <a:picLocks noGrp="1" noChangeAspect="1"/>
          </p:cNvPicPr>
          <p:nvPr>
            <p:ph type="pic" sz="quarter" idx="13"/>
          </p:nvPr>
        </p:nvPicPr>
        <p:blipFill>
          <a:blip r:embed="rId3"/>
          <a:stretch/>
        </p:blipFill>
        <p:spPr>
          <a:xfrm>
            <a:off x="678871" y="2729200"/>
            <a:ext cx="4274130" cy="2852981"/>
          </a:xfrm>
        </p:spPr>
      </p:pic>
      <p:sp>
        <p:nvSpPr>
          <p:cNvPr id="4" name="Content Placeholder 3">
            <a:extLst>
              <a:ext uri="{FF2B5EF4-FFF2-40B4-BE49-F238E27FC236}">
                <a16:creationId xmlns:a16="http://schemas.microsoft.com/office/drawing/2014/main" id="{A93097E7-8CBD-0396-15F1-FD5E4955AC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Comparative Modeling Approach</a:t>
            </a:r>
          </a:p>
          <a:p>
            <a:pPr marL="0" lvl="1" indent="0">
              <a:buFont typeface="Arial" panose="020B0604020202020204" pitchFamily="34" charset="0"/>
              <a:buNone/>
            </a:pPr>
            <a:r>
              <a:t>Multiple regression algorithms are trained and evaluated under a consistent framework for objective comparison.</a:t>
            </a:r>
            <a:endParaRPr lang="en-US"/>
          </a:p>
          <a:p>
            <a:pPr marL="0" indent="0">
              <a:spcBef>
                <a:spcPts val="2500"/>
              </a:spcBef>
              <a:buFont typeface="Arial" panose="020B0604020202020204" pitchFamily="34" charset="0"/>
              <a:buNone/>
            </a:pPr>
            <a:r>
              <a:rPr lang="en-US" b="1"/>
              <a:t>Diverse Regression Models</a:t>
            </a:r>
          </a:p>
          <a:p>
            <a:pPr marL="0" lvl="1" indent="0">
              <a:buFont typeface="Arial" panose="020B0604020202020204" pitchFamily="34" charset="0"/>
              <a:buNone/>
            </a:pPr>
            <a:r>
              <a:t>Models include Linear Regression, tree-based models, ensemble methods, and instance-based learning for varied data relationships.</a:t>
            </a:r>
            <a:endParaRPr lang="en-US"/>
          </a:p>
          <a:p>
            <a:pPr marL="0" indent="0">
              <a:spcBef>
                <a:spcPts val="2500"/>
              </a:spcBef>
              <a:buFont typeface="Arial" panose="020B0604020202020204" pitchFamily="34" charset="0"/>
              <a:buNone/>
            </a:pPr>
            <a:r>
              <a:rPr lang="en-US" b="1"/>
              <a:t>Advanced Model Flexibility</a:t>
            </a:r>
          </a:p>
          <a:p>
            <a:pPr marL="0" lvl="1" indent="0">
              <a:buFont typeface="Arial" panose="020B0604020202020204" pitchFamily="34" charset="0"/>
              <a:buNone/>
            </a:pPr>
            <a:r>
              <a:t>Optional advanced models like XGBoost and CatBoost can be enabled via configuration to enhance accuracy.</a:t>
            </a:r>
            <a:endParaRPr lang="en-US"/>
          </a:p>
          <a:p>
            <a:pPr marL="0" indent="0">
              <a:spcBef>
                <a:spcPts val="2500"/>
              </a:spcBef>
              <a:buFont typeface="Arial" panose="020B0604020202020204" pitchFamily="34" charset="0"/>
              <a:buNone/>
            </a:pPr>
            <a:r>
              <a:rPr lang="en-US" b="1"/>
              <a:t>Hyperparameter Tuning</a:t>
            </a:r>
          </a:p>
          <a:p>
            <a:pPr marL="0" lvl="1" indent="0">
              <a:buFont typeface="Arial" panose="020B0604020202020204" pitchFamily="34" charset="0"/>
              <a:buNone/>
            </a:pPr>
            <a:r>
              <a:t>GridSearchCV is used for systematic hyperparameter tuning to find optimal model settings.</a:t>
            </a:r>
            <a:endParaRPr lang="en-US"/>
          </a:p>
        </p:txBody>
      </p:sp>
    </p:spTree>
    <p:extLst>
      <p:ext uri="{BB962C8B-B14F-4D97-AF65-F5344CB8AC3E}">
        <p14:creationId xmlns:p14="http://schemas.microsoft.com/office/powerpoint/2010/main" val="11302093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246E-1CD8-482F-0268-673C5A67D7C3}"/>
              </a:ext>
            </a:extLst>
          </p:cNvPr>
          <p:cNvSpPr>
            <a:spLocks noGrp="1"/>
          </p:cNvSpPr>
          <p:nvPr>
            <p:ph type="ctrTitle"/>
          </p:nvPr>
        </p:nvSpPr>
        <p:spPr/>
        <p:txBody>
          <a:bodyPr/>
          <a:lstStyle/>
          <a:p>
            <a:r>
              <a:rPr lang="en-US"/>
              <a:t>Model Evaluation</a:t>
            </a:r>
          </a:p>
        </p:txBody>
      </p:sp>
    </p:spTree>
    <p:extLst>
      <p:ext uri="{BB962C8B-B14F-4D97-AF65-F5344CB8AC3E}">
        <p14:creationId xmlns:p14="http://schemas.microsoft.com/office/powerpoint/2010/main" val="2671988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79C4-CB90-229B-999E-B36A604097DA}"/>
              </a:ext>
            </a:extLst>
          </p:cNvPr>
          <p:cNvSpPr>
            <a:spLocks noGrp="1"/>
          </p:cNvSpPr>
          <p:nvPr>
            <p:ph type="title"/>
          </p:nvPr>
        </p:nvSpPr>
        <p:spPr/>
        <p:txBody>
          <a:bodyPr/>
          <a:lstStyle/>
          <a:p>
            <a:r>
              <a:rPr lang="en-US"/>
              <a:t>Model Selection and Quality Gates</a:t>
            </a:r>
          </a:p>
        </p:txBody>
      </p:sp>
      <p:pic>
        <p:nvPicPr>
          <p:cNvPr id="6" name="Content Placeholder 5" descr="Car, Tire - Vehicle Part, Change, Technology, Factory">
            <a:extLst>
              <a:ext uri="{FF2B5EF4-FFF2-40B4-BE49-F238E27FC236}">
                <a16:creationId xmlns:a16="http://schemas.microsoft.com/office/drawing/2014/main" id="{BBA33186-4721-4865-96CE-89E4DDE11B4C}"/>
              </a:ext>
            </a:extLst>
          </p:cNvPr>
          <p:cNvPicPr>
            <a:picLocks noGrp="1" noChangeAspect="1"/>
          </p:cNvPicPr>
          <p:nvPr>
            <p:ph sz="quarter" idx="15"/>
          </p:nvPr>
        </p:nvPicPr>
        <p:blipFill>
          <a:blip r:embed="rId3"/>
          <a:stretch>
            <a:fillRect/>
          </a:stretch>
        </p:blipFill>
        <p:spPr>
          <a:xfrm>
            <a:off x="685800" y="2635071"/>
            <a:ext cx="5140325" cy="2964220"/>
          </a:xfrm>
          <a:prstGeom prst="rect">
            <a:avLst/>
          </a:prstGeom>
        </p:spPr>
      </p:pic>
      <p:sp>
        <p:nvSpPr>
          <p:cNvPr id="4" name="Content Placeholder 3">
            <a:extLst>
              <a:ext uri="{FF2B5EF4-FFF2-40B4-BE49-F238E27FC236}">
                <a16:creationId xmlns:a16="http://schemas.microsoft.com/office/drawing/2014/main" id="{14082E43-F96D-A3E5-4C6A-35818D99F81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t>Model Evaluation with R²</a:t>
            </a:r>
          </a:p>
          <a:p>
            <a:pPr marL="742950" lvl="1" indent="-285750">
              <a:buFont typeface="Arial" panose="020B0604020202020204" pitchFamily="34" charset="0"/>
              <a:buChar char="•"/>
            </a:pPr>
            <a:r>
              <a:t>The R² metric on test data measures how well the model explains variance in math scores.</a:t>
            </a:r>
          </a:p>
          <a:p>
            <a:pPr>
              <a:buFont typeface="Arial" panose="020B0604020202020204" pitchFamily="34" charset="0"/>
              <a:buChar char="•"/>
            </a:pPr>
            <a:r>
              <a:t>Quality Gate Enforcement</a:t>
            </a:r>
          </a:p>
          <a:p>
            <a:pPr marL="742950" lvl="1" indent="-285750">
              <a:buFont typeface="Arial" panose="020B0604020202020204" pitchFamily="34" charset="0"/>
              <a:buChar char="•"/>
            </a:pPr>
            <a:r>
              <a:t>Training stops if no model meets minimum performance to prevent deploying poor models.</a:t>
            </a:r>
          </a:p>
          <a:p>
            <a:pPr>
              <a:buFont typeface="Arial" panose="020B0604020202020204" pitchFamily="34" charset="0"/>
              <a:buChar char="•"/>
            </a:pPr>
            <a:r>
              <a:t>Model Selection and Storage</a:t>
            </a:r>
          </a:p>
          <a:p>
            <a:pPr marL="742950" lvl="1" indent="-285750">
              <a:buFont typeface="Arial" panose="020B0604020202020204" pitchFamily="34" charset="0"/>
              <a:buChar char="•"/>
            </a:pPr>
            <a:r>
              <a:t>The best model is selected and saved with preprocessing pipeline to ensure inference consistency.</a:t>
            </a:r>
          </a:p>
          <a:p>
            <a:pPr>
              <a:buFont typeface="Arial" panose="020B0604020202020204" pitchFamily="34" charset="0"/>
              <a:buChar char="•"/>
            </a:pPr>
            <a:r>
              <a:t>Transparent ML Practices</a:t>
            </a:r>
          </a:p>
          <a:p>
            <a:pPr marL="742950" lvl="1" indent="-285750">
              <a:buFont typeface="Arial" panose="020B0604020202020204" pitchFamily="34" charset="0"/>
              <a:buChar char="•"/>
            </a:pPr>
            <a:r>
              <a:t>Clear documentation of evaluation and selection builds stakeholder trust through responsible ML.</a:t>
            </a:r>
            <a:endParaRPr lang="en-US"/>
          </a:p>
        </p:txBody>
      </p:sp>
    </p:spTree>
    <p:extLst>
      <p:ext uri="{BB962C8B-B14F-4D97-AF65-F5344CB8AC3E}">
        <p14:creationId xmlns:p14="http://schemas.microsoft.com/office/powerpoint/2010/main" val="3420639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443F-E065-58B6-AD35-BD430EC72310}"/>
              </a:ext>
            </a:extLst>
          </p:cNvPr>
          <p:cNvSpPr>
            <a:spLocks noGrp="1"/>
          </p:cNvSpPr>
          <p:nvPr>
            <p:ph type="ctrTitle"/>
          </p:nvPr>
        </p:nvSpPr>
        <p:spPr>
          <a:xfrm>
            <a:off x="2161514" y="2476500"/>
            <a:ext cx="7868972" cy="1905000"/>
          </a:xfrm>
        </p:spPr>
        <p:txBody>
          <a:bodyPr anchor="ctr">
            <a:normAutofit/>
          </a:bodyPr>
          <a:lstStyle/>
          <a:p>
            <a:r>
              <a:rPr lang="en-US"/>
              <a:t>Deployment</a:t>
            </a:r>
          </a:p>
        </p:txBody>
      </p:sp>
    </p:spTree>
    <p:extLst>
      <p:ext uri="{BB962C8B-B14F-4D97-AF65-F5344CB8AC3E}">
        <p14:creationId xmlns:p14="http://schemas.microsoft.com/office/powerpoint/2010/main" val="375507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A2AA-26EE-7032-5904-62D5E286B11C}"/>
              </a:ext>
            </a:extLst>
          </p:cNvPr>
          <p:cNvSpPr>
            <a:spLocks noGrp="1"/>
          </p:cNvSpPr>
          <p:nvPr>
            <p:ph type="title"/>
          </p:nvPr>
        </p:nvSpPr>
        <p:spPr/>
        <p:txBody>
          <a:bodyPr/>
          <a:lstStyle/>
          <a:p>
            <a:r>
              <a:rPr lang="en-US"/>
              <a:t>Flask Application and Cloud Hosting</a:t>
            </a:r>
          </a:p>
        </p:txBody>
      </p:sp>
      <p:pic>
        <p:nvPicPr>
          <p:cNvPr id="6" name="Content Placeholder 5" descr="Cloud computing digital concept">
            <a:extLst>
              <a:ext uri="{FF2B5EF4-FFF2-40B4-BE49-F238E27FC236}">
                <a16:creationId xmlns:a16="http://schemas.microsoft.com/office/drawing/2014/main" id="{D94E99F3-D9C8-421B-BA07-9FACFA99D36A}"/>
              </a:ext>
            </a:extLst>
          </p:cNvPr>
          <p:cNvPicPr>
            <a:picLocks noGrp="1" noChangeAspect="1"/>
          </p:cNvPicPr>
          <p:nvPr>
            <p:ph sz="quarter" idx="15"/>
          </p:nvPr>
        </p:nvPicPr>
        <p:blipFill>
          <a:blip r:embed="rId3"/>
          <a:stretch>
            <a:fillRect/>
          </a:stretch>
        </p:blipFill>
        <p:spPr>
          <a:xfrm>
            <a:off x="685800" y="2671465"/>
            <a:ext cx="5140325" cy="2891432"/>
          </a:xfrm>
          <a:prstGeom prst="rect">
            <a:avLst/>
          </a:prstGeom>
        </p:spPr>
      </p:pic>
      <p:sp>
        <p:nvSpPr>
          <p:cNvPr id="4" name="Content Placeholder 3">
            <a:extLst>
              <a:ext uri="{FF2B5EF4-FFF2-40B4-BE49-F238E27FC236}">
                <a16:creationId xmlns:a16="http://schemas.microsoft.com/office/drawing/2014/main" id="{B80A37B9-05D3-F174-6F3E-CFC0D97D2426}"/>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10000"/>
          </a:bodyPr>
          <a:lstStyle/>
          <a:p>
            <a:pPr>
              <a:buFont typeface="Arial" panose="020B0604020202020204" pitchFamily="34" charset="0"/>
              <a:buChar char="•"/>
            </a:pPr>
            <a:r>
              <a:t>User Interface with Flask</a:t>
            </a:r>
          </a:p>
          <a:p>
            <a:pPr marL="742950" lvl="1" indent="-285750">
              <a:buFont typeface="Arial" panose="020B0604020202020204" pitchFamily="34" charset="0"/>
              <a:buChar char="•"/>
            </a:pPr>
            <a:r>
              <a:t>A Flask web app provides a simple form for users to input student features and request predictions easily.</a:t>
            </a:r>
          </a:p>
          <a:p>
            <a:pPr>
              <a:buFont typeface="Arial" panose="020B0604020202020204" pitchFamily="34" charset="0"/>
              <a:buChar char="•"/>
            </a:pPr>
            <a:r>
              <a:t>Real-Time Prediction Endpoint</a:t>
            </a:r>
          </a:p>
          <a:p>
            <a:pPr marL="742950" lvl="1" indent="-285750">
              <a:buFont typeface="Arial" panose="020B0604020202020204" pitchFamily="34" charset="0"/>
              <a:buChar char="•"/>
            </a:pPr>
            <a:r>
              <a:t>The application routes inputs to a prediction endpoint that loads models and preprocessors to generate predictions in real time.</a:t>
            </a:r>
          </a:p>
          <a:p>
            <a:pPr>
              <a:buFont typeface="Arial" panose="020B0604020202020204" pitchFamily="34" charset="0"/>
              <a:buChar char="•"/>
            </a:pPr>
            <a:r>
              <a:t>Cloud Deployment with Gunicorn</a:t>
            </a:r>
          </a:p>
          <a:p>
            <a:pPr marL="742950" lvl="1" indent="-285750">
              <a:buFont typeface="Arial" panose="020B0604020202020204" pitchFamily="34" charset="0"/>
              <a:buChar char="•"/>
            </a:pPr>
            <a:r>
              <a:t>The Flask app is deployed on a cloud platform using Gunicorn as the production server, demonstrating modern deployment practices.</a:t>
            </a:r>
          </a:p>
          <a:p>
            <a:pPr>
              <a:buFont typeface="Arial" panose="020B0604020202020204" pitchFamily="34" charset="0"/>
              <a:buChar char="•"/>
            </a:pPr>
            <a:r>
              <a:t>End-to-End ML Integration</a:t>
            </a:r>
          </a:p>
          <a:p>
            <a:pPr marL="742950" lvl="1" indent="-285750">
              <a:buFont typeface="Arial" panose="020B0604020202020204" pitchFamily="34" charset="0"/>
              <a:buChar char="•"/>
            </a:pPr>
            <a:r>
              <a:t>This deployment highlights integrating ML models into real user-facing applications beyond just model training environments.</a:t>
            </a:r>
            <a:endParaRPr lang="en-US"/>
          </a:p>
        </p:txBody>
      </p:sp>
    </p:spTree>
    <p:extLst>
      <p:ext uri="{BB962C8B-B14F-4D97-AF65-F5344CB8AC3E}">
        <p14:creationId xmlns:p14="http://schemas.microsoft.com/office/powerpoint/2010/main" val="3739941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17C8-598C-0F3B-2BA6-2200A53A81DA}"/>
              </a:ext>
            </a:extLst>
          </p:cNvPr>
          <p:cNvSpPr>
            <a:spLocks noGrp="1"/>
          </p:cNvSpPr>
          <p:nvPr>
            <p:ph type="ctrTitle"/>
          </p:nvPr>
        </p:nvSpPr>
        <p:spPr>
          <a:xfrm>
            <a:off x="2161514" y="2476500"/>
            <a:ext cx="7868972" cy="1905000"/>
          </a:xfrm>
        </p:spPr>
        <p:txBody>
          <a:bodyPr anchor="ctr">
            <a:normAutofit/>
          </a:bodyPr>
          <a:lstStyle/>
          <a:p>
            <a:r>
              <a:rPr lang="en-US"/>
              <a:t>Project Outputs</a:t>
            </a:r>
          </a:p>
        </p:txBody>
      </p:sp>
    </p:spTree>
    <p:extLst>
      <p:ext uri="{BB962C8B-B14F-4D97-AF65-F5344CB8AC3E}">
        <p14:creationId xmlns:p14="http://schemas.microsoft.com/office/powerpoint/2010/main" val="10146959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FCF6-834D-E727-ADFA-3035D64407A4}"/>
              </a:ext>
            </a:extLst>
          </p:cNvPr>
          <p:cNvSpPr>
            <a:spLocks noGrp="1"/>
          </p:cNvSpPr>
          <p:nvPr>
            <p:ph type="ctrTitle"/>
          </p:nvPr>
        </p:nvSpPr>
        <p:spPr>
          <a:xfrm>
            <a:off x="2161514" y="2476500"/>
            <a:ext cx="7868972" cy="1905000"/>
          </a:xfrm>
        </p:spPr>
        <p:txBody>
          <a:bodyPr anchor="ctr">
            <a:normAutofit/>
          </a:bodyPr>
          <a:lstStyle/>
          <a:p>
            <a:r>
              <a:rPr lang="en-US"/>
              <a:t>Evaluation of the System</a:t>
            </a:r>
          </a:p>
        </p:txBody>
      </p:sp>
    </p:spTree>
    <p:extLst>
      <p:ext uri="{BB962C8B-B14F-4D97-AF65-F5344CB8AC3E}">
        <p14:creationId xmlns:p14="http://schemas.microsoft.com/office/powerpoint/2010/main" val="3849260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4829-EC82-BAB8-B590-831BAB2F9512}"/>
              </a:ext>
            </a:extLst>
          </p:cNvPr>
          <p:cNvSpPr>
            <a:spLocks noGrp="1"/>
          </p:cNvSpPr>
          <p:nvPr>
            <p:ph type="title"/>
          </p:nvPr>
        </p:nvSpPr>
        <p:spPr/>
        <p:txBody>
          <a:bodyPr/>
          <a:lstStyle/>
          <a:p>
            <a:r>
              <a:rPr lang="en-US"/>
              <a:t>Strengths and Current Limitations</a:t>
            </a:r>
          </a:p>
        </p:txBody>
      </p:sp>
      <p:pic>
        <p:nvPicPr>
          <p:cNvPr id="6" name="Content Placeholder 5" descr="Business questions ideas and creativity 2021">
            <a:extLst>
              <a:ext uri="{FF2B5EF4-FFF2-40B4-BE49-F238E27FC236}">
                <a16:creationId xmlns:a16="http://schemas.microsoft.com/office/drawing/2014/main" id="{4095AA05-BF3F-401B-BBEA-56299D0C9A9D}"/>
              </a:ext>
            </a:extLst>
          </p:cNvPr>
          <p:cNvPicPr>
            <a:picLocks noGrp="1" noChangeAspect="1"/>
          </p:cNvPicPr>
          <p:nvPr>
            <p:ph sz="quarter" idx="15"/>
          </p:nvPr>
        </p:nvPicPr>
        <p:blipFill>
          <a:blip r:embed="rId3"/>
          <a:stretch>
            <a:fillRect/>
          </a:stretch>
        </p:blipFill>
        <p:spPr>
          <a:xfrm>
            <a:off x="685800" y="2832100"/>
            <a:ext cx="5140325" cy="2570162"/>
          </a:xfrm>
          <a:prstGeom prst="rect">
            <a:avLst/>
          </a:prstGeom>
        </p:spPr>
      </p:pic>
      <p:sp>
        <p:nvSpPr>
          <p:cNvPr id="4" name="Content Placeholder 3">
            <a:extLst>
              <a:ext uri="{FF2B5EF4-FFF2-40B4-BE49-F238E27FC236}">
                <a16:creationId xmlns:a16="http://schemas.microsoft.com/office/drawing/2014/main" id="{2469E8D1-4DF1-DE4F-AC96-873EBBF3AD52}"/>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a:bodyPr>
          <a:lstStyle/>
          <a:p>
            <a:pPr>
              <a:buFont typeface="Arial" panose="020B0604020202020204" pitchFamily="34" charset="0"/>
              <a:buChar char="•"/>
            </a:pPr>
            <a:r>
              <a:t>System Strengths</a:t>
            </a:r>
          </a:p>
          <a:p>
            <a:pPr marL="742950" lvl="1" indent="-285750">
              <a:buFont typeface="Arial" panose="020B0604020202020204" pitchFamily="34" charset="0"/>
              <a:buChar char="•"/>
            </a:pPr>
            <a:r>
              <a:t>The system features a modular codebase, clear separation of concerns, and a reproducible artifact-driven workflow.</a:t>
            </a:r>
          </a:p>
          <a:p>
            <a:pPr>
              <a:buFont typeface="Arial" panose="020B0604020202020204" pitchFamily="34" charset="0"/>
              <a:buChar char="•"/>
            </a:pPr>
            <a:r>
              <a:t>Engineering Judgment</a:t>
            </a:r>
          </a:p>
          <a:p>
            <a:pPr marL="742950" lvl="1" indent="-285750">
              <a:buFont typeface="Arial" panose="020B0604020202020204" pitchFamily="34" charset="0"/>
              <a:buChar char="•"/>
            </a:pPr>
            <a:r>
              <a:t>A quality threshold for model selection reflects practical and thoughtful engineering decision-making.</a:t>
            </a:r>
          </a:p>
          <a:p>
            <a:pPr>
              <a:buFont typeface="Arial" panose="020B0604020202020204" pitchFamily="34" charset="0"/>
              <a:buChar char="•"/>
            </a:pPr>
            <a:r>
              <a:t>Acknowledged Limitations</a:t>
            </a:r>
          </a:p>
          <a:p>
            <a:pPr marL="742950" lvl="1" indent="-285750">
              <a:buFont typeface="Arial" panose="020B0604020202020204" pitchFamily="34" charset="0"/>
              <a:buChar char="•"/>
            </a:pPr>
            <a:r>
              <a:t>Current gaps include lack of automated testing, data validation, experiment tracking, and continuous integration.</a:t>
            </a:r>
          </a:p>
          <a:p>
            <a:pPr>
              <a:buFont typeface="Arial" panose="020B0604020202020204" pitchFamily="34" charset="0"/>
              <a:buChar char="•"/>
            </a:pPr>
            <a:r>
              <a:t>Balanced Evaluation</a:t>
            </a:r>
          </a:p>
          <a:p>
            <a:pPr marL="742950" lvl="1" indent="-285750">
              <a:buFont typeface="Arial" panose="020B0604020202020204" pitchFamily="34" charset="0"/>
              <a:buChar char="•"/>
            </a:pPr>
            <a:r>
              <a:t>Presenting both strengths and limitations shows maturity and readiness for production deployment.</a:t>
            </a:r>
            <a:endParaRPr lang="en-US"/>
          </a:p>
        </p:txBody>
      </p:sp>
    </p:spTree>
    <p:extLst>
      <p:ext uri="{BB962C8B-B14F-4D97-AF65-F5344CB8AC3E}">
        <p14:creationId xmlns:p14="http://schemas.microsoft.com/office/powerpoint/2010/main" val="1984844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417F8-1DC2-351F-AA53-84B2DCD17E24}"/>
              </a:ext>
            </a:extLst>
          </p:cNvPr>
          <p:cNvSpPr>
            <a:spLocks noGrp="1"/>
          </p:cNvSpPr>
          <p:nvPr>
            <p:ph type="ctrTitle"/>
          </p:nvPr>
        </p:nvSpPr>
        <p:spPr/>
        <p:txBody>
          <a:bodyPr/>
          <a:lstStyle/>
          <a:p>
            <a:r>
              <a:rPr lang="en-US"/>
              <a:t>Future Enhancements</a:t>
            </a:r>
          </a:p>
        </p:txBody>
      </p:sp>
    </p:spTree>
    <p:extLst>
      <p:ext uri="{BB962C8B-B14F-4D97-AF65-F5344CB8AC3E}">
        <p14:creationId xmlns:p14="http://schemas.microsoft.com/office/powerpoint/2010/main" val="1112554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C9114-A0DD-EBB7-61F9-7F9F25322E15}"/>
              </a:ext>
            </a:extLst>
          </p:cNvPr>
          <p:cNvSpPr>
            <a:spLocks noGrp="1"/>
          </p:cNvSpPr>
          <p:nvPr>
            <p:ph type="title"/>
          </p:nvPr>
        </p:nvSpPr>
        <p:spPr>
          <a:xfrm>
            <a:off x="678871" y="685800"/>
            <a:ext cx="4274130" cy="1269482"/>
          </a:xfrm>
        </p:spPr>
        <p:txBody>
          <a:bodyPr anchor="t">
            <a:normAutofit/>
          </a:bodyPr>
          <a:lstStyle/>
          <a:p>
            <a:pPr>
              <a:lnSpc>
                <a:spcPct val="90000"/>
              </a:lnSpc>
            </a:pPr>
            <a:r>
              <a:rPr lang="en-US" sz="2600"/>
              <a:t>Planned Improvements and Extensions</a:t>
            </a:r>
          </a:p>
        </p:txBody>
      </p:sp>
      <p:pic>
        <p:nvPicPr>
          <p:cNvPr id="6" name="Content Placeholder 5" descr="fourth industrial revolution technology concept">
            <a:extLst>
              <a:ext uri="{FF2B5EF4-FFF2-40B4-BE49-F238E27FC236}">
                <a16:creationId xmlns:a16="http://schemas.microsoft.com/office/drawing/2014/main" id="{1C11B1E3-9440-4FB4-B4B3-C22948140774}"/>
              </a:ext>
            </a:extLst>
          </p:cNvPr>
          <p:cNvPicPr>
            <a:picLocks noGrp="1" noChangeAspect="1"/>
          </p:cNvPicPr>
          <p:nvPr>
            <p:ph type="pic" sz="quarter" idx="13"/>
          </p:nvPr>
        </p:nvPicPr>
        <p:blipFill>
          <a:blip r:embed="rId3"/>
          <a:srcRect l="14439" r="24904"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6B13B78A-B5FD-AF8E-90CD-2AD28098B4D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Enhancing Robustness</a:t>
            </a:r>
          </a:p>
          <a:p>
            <a:pPr marL="0" lvl="1" indent="0">
              <a:buFont typeface="Arial" panose="020B0604020202020204" pitchFamily="34" charset="0"/>
              <a:buNone/>
            </a:pPr>
            <a:r>
              <a:t>Adding unit and integration tests improves system reliability and robustness for future development.</a:t>
            </a:r>
            <a:endParaRPr lang="en-US"/>
          </a:p>
          <a:p>
            <a:pPr marL="0" indent="0">
              <a:spcBef>
                <a:spcPts val="2500"/>
              </a:spcBef>
              <a:buFont typeface="Arial" panose="020B0604020202020204" pitchFamily="34" charset="0"/>
              <a:buNone/>
            </a:pPr>
            <a:r>
              <a:rPr lang="en-US" b="1"/>
              <a:t>Input Validation</a:t>
            </a:r>
          </a:p>
          <a:p>
            <a:pPr marL="0" lvl="1" indent="0">
              <a:buFont typeface="Arial" panose="020B0604020202020204" pitchFamily="34" charset="0"/>
              <a:buNone/>
            </a:pPr>
            <a:r>
              <a:t>Implementing schema and range validation ensures data integrity and reduces input errors.</a:t>
            </a:r>
            <a:endParaRPr lang="en-US"/>
          </a:p>
          <a:p>
            <a:pPr marL="0" indent="0">
              <a:spcBef>
                <a:spcPts val="2500"/>
              </a:spcBef>
              <a:buFont typeface="Arial" panose="020B0604020202020204" pitchFamily="34" charset="0"/>
              <a:buNone/>
            </a:pPr>
            <a:r>
              <a:rPr lang="en-US" b="1"/>
              <a:t>Containerization and Tracking</a:t>
            </a:r>
          </a:p>
          <a:p>
            <a:pPr marL="0" lvl="1" indent="0">
              <a:buFont typeface="Arial" panose="020B0604020202020204" pitchFamily="34" charset="0"/>
              <a:buNone/>
            </a:pPr>
            <a:r>
              <a:t>Using Docker for containerization and experiment tracking tools streamlines deployment and monitoring.</a:t>
            </a:r>
            <a:endParaRPr lang="en-US"/>
          </a:p>
          <a:p>
            <a:pPr marL="0" indent="0">
              <a:spcBef>
                <a:spcPts val="2500"/>
              </a:spcBef>
              <a:buFont typeface="Arial" panose="020B0604020202020204" pitchFamily="34" charset="0"/>
              <a:buNone/>
            </a:pPr>
            <a:r>
              <a:rPr lang="en-US" b="1"/>
              <a:t>Production Readiness</a:t>
            </a:r>
          </a:p>
          <a:p>
            <a:pPr marL="0" lvl="1" indent="0">
              <a:buFont typeface="Arial" panose="020B0604020202020204" pitchFamily="34" charset="0"/>
              <a:buNone/>
            </a:pPr>
            <a:r>
              <a:t>Health-check endpoints, API versioning, and automated CI/CD pipelines align the system with production standards.</a:t>
            </a:r>
            <a:endParaRPr lang="en-US"/>
          </a:p>
        </p:txBody>
      </p:sp>
    </p:spTree>
    <p:extLst>
      <p:ext uri="{BB962C8B-B14F-4D97-AF65-F5344CB8AC3E}">
        <p14:creationId xmlns:p14="http://schemas.microsoft.com/office/powerpoint/2010/main" val="1575358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AA39D-1EC2-09AF-8427-5B92602FC7D4}"/>
              </a:ext>
            </a:extLst>
          </p:cNvPr>
          <p:cNvSpPr>
            <a:spLocks noGrp="1"/>
          </p:cNvSpPr>
          <p:nvPr>
            <p:ph type="ctrTitle"/>
          </p:nvPr>
        </p:nvSpPr>
        <p:spPr>
          <a:xfrm>
            <a:off x="2161514" y="2476500"/>
            <a:ext cx="7868972" cy="1905000"/>
          </a:xfrm>
        </p:spPr>
        <p:txBody>
          <a:bodyPr anchor="ctr">
            <a:normAutofit/>
          </a:bodyPr>
          <a:lstStyle/>
          <a:p>
            <a:r>
              <a:rPr lang="en-US"/>
              <a:t>Overall Impact</a:t>
            </a:r>
          </a:p>
        </p:txBody>
      </p:sp>
    </p:spTree>
    <p:extLst>
      <p:ext uri="{BB962C8B-B14F-4D97-AF65-F5344CB8AC3E}">
        <p14:creationId xmlns:p14="http://schemas.microsoft.com/office/powerpoint/2010/main" val="4103406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06D6-83A2-07F5-4ED4-63F7B4D231BD}"/>
              </a:ext>
            </a:extLst>
          </p:cNvPr>
          <p:cNvSpPr>
            <a:spLocks noGrp="1"/>
          </p:cNvSpPr>
          <p:nvPr>
            <p:ph type="title"/>
          </p:nvPr>
        </p:nvSpPr>
        <p:spPr>
          <a:xfrm>
            <a:off x="678871" y="685800"/>
            <a:ext cx="4274130" cy="1269482"/>
          </a:xfrm>
        </p:spPr>
        <p:txBody>
          <a:bodyPr anchor="t">
            <a:normAutofit/>
          </a:bodyPr>
          <a:lstStyle/>
          <a:p>
            <a:pPr>
              <a:lnSpc>
                <a:spcPct val="90000"/>
              </a:lnSpc>
            </a:pPr>
            <a:r>
              <a:rPr lang="en-US"/>
              <a:t>Practical and Educational Value</a:t>
            </a:r>
          </a:p>
        </p:txBody>
      </p:sp>
      <p:pic>
        <p:nvPicPr>
          <p:cNvPr id="6" name="Content Placeholder 5" descr="Network and Computing Concept. Pixelated Cloud symbol on technology background.">
            <a:extLst>
              <a:ext uri="{FF2B5EF4-FFF2-40B4-BE49-F238E27FC236}">
                <a16:creationId xmlns:a16="http://schemas.microsoft.com/office/drawing/2014/main" id="{4E75B4B6-05EA-45E6-BBDF-E36E39571D4B}"/>
              </a:ext>
            </a:extLst>
          </p:cNvPr>
          <p:cNvPicPr>
            <a:picLocks noGrp="1" noChangeAspect="1"/>
          </p:cNvPicPr>
          <p:nvPr>
            <p:ph type="pic" sz="quarter" idx="13"/>
          </p:nvPr>
        </p:nvPicPr>
        <p:blipFill>
          <a:blip r:embed="rId3"/>
          <a:srcRect l="28022" r="-2" b="-2"/>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17078676-0E3F-180B-B9F4-5A367155128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Integration of Theory and Practice</a:t>
            </a:r>
          </a:p>
          <a:p>
            <a:pPr marL="0" lvl="1" indent="0">
              <a:buFont typeface="Arial" panose="020B0604020202020204" pitchFamily="34" charset="0"/>
              <a:buNone/>
            </a:pPr>
            <a:r>
              <a:t>Combining theoretical machine learning with practical engineering creates effective real-world solutions.</a:t>
            </a:r>
            <a:endParaRPr lang="en-US"/>
          </a:p>
          <a:p>
            <a:pPr marL="0" indent="0">
              <a:spcBef>
                <a:spcPts val="2500"/>
              </a:spcBef>
              <a:buFont typeface="Arial" panose="020B0604020202020204" pitchFamily="34" charset="0"/>
              <a:buNone/>
            </a:pPr>
            <a:r>
              <a:rPr lang="en-US" b="1"/>
              <a:t>Reinforcing Best Practices</a:t>
            </a:r>
          </a:p>
          <a:p>
            <a:pPr marL="0" lvl="1" indent="0">
              <a:buFont typeface="Arial" panose="020B0604020202020204" pitchFamily="34" charset="0"/>
              <a:buNone/>
            </a:pPr>
            <a:r>
              <a:t>The project emphasizes reproducibility, evaluation discipline, and deployment awareness for learners.</a:t>
            </a:r>
            <a:endParaRPr lang="en-US"/>
          </a:p>
          <a:p>
            <a:pPr marL="0" indent="0">
              <a:spcBef>
                <a:spcPts val="2500"/>
              </a:spcBef>
              <a:buFont typeface="Arial" panose="020B0604020202020204" pitchFamily="34" charset="0"/>
              <a:buNone/>
            </a:pPr>
            <a:r>
              <a:rPr lang="en-US" b="1"/>
              <a:t>Showcasing Complete Systems</a:t>
            </a:r>
          </a:p>
          <a:p>
            <a:pPr marL="0" lvl="1" indent="0">
              <a:buFont typeface="Arial" panose="020B0604020202020204" pitchFamily="34" charset="0"/>
              <a:buNone/>
            </a:pPr>
            <a:r>
              <a:t>Demonstrates the ability to deliver a fully functional and usable machine learning system to stakeholders.</a:t>
            </a:r>
            <a:endParaRPr lang="en-US"/>
          </a:p>
          <a:p>
            <a:pPr marL="0" indent="0">
              <a:spcBef>
                <a:spcPts val="2500"/>
              </a:spcBef>
              <a:buFont typeface="Arial" panose="020B0604020202020204" pitchFamily="34" charset="0"/>
              <a:buNone/>
            </a:pPr>
            <a:r>
              <a:rPr lang="en-US" b="1"/>
              <a:t>Broader Impact and Significance</a:t>
            </a:r>
          </a:p>
          <a:p>
            <a:pPr marL="0" lvl="1" indent="0">
              <a:buFont typeface="Arial" panose="020B0604020202020204" pitchFamily="34" charset="0"/>
              <a:buNone/>
            </a:pPr>
            <a:r>
              <a:t>Highlights the project's wider significance beyond technical components to engage the audience.</a:t>
            </a:r>
            <a:endParaRPr lang="en-US"/>
          </a:p>
        </p:txBody>
      </p:sp>
    </p:spTree>
    <p:extLst>
      <p:ext uri="{BB962C8B-B14F-4D97-AF65-F5344CB8AC3E}">
        <p14:creationId xmlns:p14="http://schemas.microsoft.com/office/powerpoint/2010/main" val="1707459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BA18-EEA9-672F-6305-A7671B10E50C}"/>
              </a:ext>
            </a:extLst>
          </p:cNvPr>
          <p:cNvSpPr>
            <a:spLocks noGrp="1"/>
          </p:cNvSpPr>
          <p:nvPr>
            <p:ph type="ctrTitle"/>
          </p:nvPr>
        </p:nvSpPr>
        <p:spPr>
          <a:xfrm>
            <a:off x="2161514" y="2476500"/>
            <a:ext cx="7868972" cy="1905000"/>
          </a:xfrm>
        </p:spPr>
        <p:txBody>
          <a:bodyPr anchor="ctr">
            <a:normAutofit/>
          </a:bodyPr>
          <a:lstStyle/>
          <a:p>
            <a:r>
              <a:rPr lang="en-US"/>
              <a:t>Conclusion</a:t>
            </a:r>
          </a:p>
        </p:txBody>
      </p:sp>
    </p:spTree>
    <p:extLst>
      <p:ext uri="{BB962C8B-B14F-4D97-AF65-F5344CB8AC3E}">
        <p14:creationId xmlns:p14="http://schemas.microsoft.com/office/powerpoint/2010/main" val="2911987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7DC00-D347-CB81-3154-8E2F5EBAF284}"/>
              </a:ext>
            </a:extLst>
          </p:cNvPr>
          <p:cNvSpPr>
            <a:spLocks noGrp="1"/>
          </p:cNvSpPr>
          <p:nvPr>
            <p:ph type="title"/>
          </p:nvPr>
        </p:nvSpPr>
        <p:spPr>
          <a:xfrm>
            <a:off x="678871" y="685800"/>
            <a:ext cx="4274130" cy="1269482"/>
          </a:xfrm>
        </p:spPr>
        <p:txBody>
          <a:bodyPr anchor="t">
            <a:normAutofit/>
          </a:bodyPr>
          <a:lstStyle/>
          <a:p>
            <a:r>
              <a:rPr lang="en-US"/>
              <a:t>Summary and Key Takeaways</a:t>
            </a:r>
          </a:p>
        </p:txBody>
      </p:sp>
      <p:pic>
        <p:nvPicPr>
          <p:cNvPr id="6" name="Content Placeholder 5"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BC99B81B-0FF4-46B8-A64C-E69CCF9989DA}"/>
              </a:ext>
            </a:extLst>
          </p:cNvPr>
          <p:cNvPicPr>
            <a:picLocks noGrp="1" noChangeAspect="1"/>
          </p:cNvPicPr>
          <p:nvPr>
            <p:ph type="pic" sz="quarter" idx="13"/>
          </p:nvPr>
        </p:nvPicPr>
        <p:blipFill>
          <a:blip r:embed="rId3"/>
          <a:srcRect l="18433" r="24684" b="-1"/>
          <a:stretch>
            <a:fillRect/>
          </a:stretch>
        </p:blipFill>
        <p:spPr>
          <a:xfrm>
            <a:off x="678871" y="2173850"/>
            <a:ext cx="4274130" cy="3963682"/>
          </a:xfrm>
        </p:spPr>
      </p:pic>
      <p:sp>
        <p:nvSpPr>
          <p:cNvPr id="4" name="Content Placeholder 3">
            <a:extLst>
              <a:ext uri="{FF2B5EF4-FFF2-40B4-BE49-F238E27FC236}">
                <a16:creationId xmlns:a16="http://schemas.microsoft.com/office/drawing/2014/main" id="{36148291-531B-B71F-E117-4567DE0AFB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3333" y="685800"/>
            <a:ext cx="5932867" cy="5477257"/>
          </a:xfrm>
        </p:spPr>
        <p:txBody>
          <a:bodyPr>
            <a:normAutofit/>
          </a:bodyPr>
          <a:lstStyle/>
          <a:p>
            <a:pPr marL="0" indent="0">
              <a:spcBef>
                <a:spcPts val="2500"/>
              </a:spcBef>
              <a:buFont typeface="Arial" panose="020B0604020202020204" pitchFamily="34" charset="0"/>
              <a:buNone/>
            </a:pPr>
            <a:r>
              <a:rPr lang="en-US" b="1"/>
              <a:t>Comprehensive ML Project</a:t>
            </a:r>
          </a:p>
          <a:p>
            <a:pPr marL="0" lvl="1" indent="0">
              <a:buFont typeface="Arial" panose="020B0604020202020204" pitchFamily="34" charset="0"/>
              <a:buNone/>
            </a:pPr>
            <a:r>
              <a:t>The project addresses a real-world problem with structured data preprocessing and modeling techniques.</a:t>
            </a:r>
            <a:endParaRPr lang="en-US"/>
          </a:p>
          <a:p>
            <a:pPr marL="0" indent="0">
              <a:spcBef>
                <a:spcPts val="2500"/>
              </a:spcBef>
              <a:buFont typeface="Arial" panose="020B0604020202020204" pitchFamily="34" charset="0"/>
              <a:buNone/>
            </a:pPr>
            <a:r>
              <a:rPr lang="en-US" b="1"/>
              <a:t>Deployment and Usability</a:t>
            </a:r>
          </a:p>
          <a:p>
            <a:pPr marL="0" lvl="1" indent="0">
              <a:buFont typeface="Arial" panose="020B0604020202020204" pitchFamily="34" charset="0"/>
              <a:buNone/>
            </a:pPr>
            <a:r>
              <a:t>Predictions are delivered via a deployed web application focusing on usability and engineering quality.</a:t>
            </a:r>
            <a:endParaRPr lang="en-US"/>
          </a:p>
          <a:p>
            <a:pPr marL="0" indent="0">
              <a:spcBef>
                <a:spcPts val="2500"/>
              </a:spcBef>
              <a:buFont typeface="Arial" panose="020B0604020202020204" pitchFamily="34" charset="0"/>
              <a:buNone/>
            </a:pPr>
            <a:r>
              <a:rPr lang="en-US" b="1"/>
              <a:t>Project Maturity</a:t>
            </a:r>
          </a:p>
          <a:p>
            <a:pPr marL="0" lvl="1" indent="0">
              <a:buFont typeface="Arial" panose="020B0604020202020204" pitchFamily="34" charset="0"/>
              <a:buNone/>
            </a:pPr>
            <a:r>
              <a:t>Acknowledges limitations and future improvements showing readiness for further development.</a:t>
            </a:r>
            <a:endParaRPr lang="en-US"/>
          </a:p>
          <a:p>
            <a:pPr marL="0" indent="0">
              <a:spcBef>
                <a:spcPts val="2500"/>
              </a:spcBef>
              <a:buFont typeface="Arial" panose="020B0604020202020204" pitchFamily="34" charset="0"/>
              <a:buNone/>
            </a:pPr>
            <a:r>
              <a:rPr lang="en-US" b="1"/>
              <a:t>Academic and Professional Value</a:t>
            </a:r>
          </a:p>
          <a:p>
            <a:pPr marL="0" lvl="1" indent="0">
              <a:buFont typeface="Arial" panose="020B0604020202020204" pitchFamily="34" charset="0"/>
              <a:buNone/>
            </a:pPr>
            <a:r>
              <a:t>The presentation effectively summarizes the full ML lifecycle for academic, interview, or portfolio purposes.</a:t>
            </a:r>
            <a:endParaRPr lang="en-US"/>
          </a:p>
        </p:txBody>
      </p:sp>
    </p:spTree>
    <p:extLst>
      <p:ext uri="{BB962C8B-B14F-4D97-AF65-F5344CB8AC3E}">
        <p14:creationId xmlns:p14="http://schemas.microsoft.com/office/powerpoint/2010/main" val="3447094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Project Link &amp; Render Deployment</a:t>
            </a:r>
          </a:p>
        </p:txBody>
      </p:sp>
      <p:sp>
        <p:nvSpPr>
          <p:cNvPr id="3" name="Subtitle 2"/>
          <p:cNvSpPr>
            <a:spLocks noGrp="1"/>
          </p:cNvSpPr>
          <p:nvPr>
            <p:ph type="subTitle" idx="1"/>
          </p:nvPr>
        </p:nvSpPr>
        <p:spPr/>
        <p:txBody>
          <a:bodyPr/>
          <a:lstStyle/>
          <a:p>
            <a:r>
              <a:t>Working Project Link: https://ml-project-g7m8.onrender.com/</a:t>
            </a:r>
          </a:p>
          <a:p>
            <a:endParaRPr/>
          </a:p>
          <a:p>
            <a:r>
              <a:t>Deployment Details:</a:t>
            </a:r>
          </a:p>
          <a:p>
            <a:r>
              <a:t>- Hosted on Render</a:t>
            </a:r>
          </a:p>
          <a:p>
            <a:r>
              <a:t>- Gunicorn used as production server</a:t>
            </a:r>
          </a:p>
          <a:p>
            <a:r>
              <a:t>- Flask app serves /predictdata route for inference</a:t>
            </a:r>
          </a:p>
        </p:txBody>
      </p:sp>
      <p:sp>
        <p:nvSpPr>
          <p:cNvPr id="4" name="Picture Placeholder 3"/>
          <p:cNvSpPr>
            <a:spLocks noGrp="1"/>
          </p:cNvSpPr>
          <p:nvPr>
            <p:ph type="pic" sz="quarter" idx="13"/>
          </p:nvPr>
        </p:nvSpPr>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Project Interface Screenshots</a:t>
            </a:r>
          </a:p>
        </p:txBody>
      </p:sp>
      <p:sp>
        <p:nvSpPr>
          <p:cNvPr id="3" name="Subtitle 2"/>
          <p:cNvSpPr>
            <a:spLocks noGrp="1"/>
          </p:cNvSpPr>
          <p:nvPr>
            <p:ph type="subTitle" idx="1"/>
          </p:nvPr>
        </p:nvSpPr>
        <p:spPr/>
        <p:txBody>
          <a:bodyPr/>
          <a:lstStyle/>
          <a:p>
            <a:endParaRPr/>
          </a:p>
        </p:txBody>
      </p:sp>
      <p:sp>
        <p:nvSpPr>
          <p:cNvPr id="4" name="Picture Placeholder 3"/>
          <p:cNvSpPr>
            <a:spLocks noGrp="1"/>
          </p:cNvSpPr>
          <p:nvPr>
            <p:ph type="pic" sz="quarter" idx="13"/>
          </p:nvPr>
        </p:nvSpPr>
        <p:spPr/>
      </p:sp>
      <p:pic>
        <p:nvPicPr>
          <p:cNvPr id="5" name="Picture 4" descr="Screenshot 2026-03-25 235504.png"/>
          <p:cNvPicPr>
            <a:picLocks noChangeAspect="1"/>
          </p:cNvPicPr>
          <p:nvPr/>
        </p:nvPicPr>
        <p:blipFill>
          <a:blip r:embed="rId2"/>
          <a:stretch>
            <a:fillRect/>
          </a:stretch>
        </p:blipFill>
        <p:spPr>
          <a:xfrm>
            <a:off x="457200" y="1371600"/>
            <a:ext cx="4572000" cy="2865040"/>
          </a:xfrm>
          <a:prstGeom prst="rect">
            <a:avLst/>
          </a:prstGeom>
        </p:spPr>
      </p:pic>
      <p:pic>
        <p:nvPicPr>
          <p:cNvPr id="6" name="Picture 5" descr="Screenshot 2026-03-25 235447.png"/>
          <p:cNvPicPr>
            <a:picLocks noChangeAspect="1"/>
          </p:cNvPicPr>
          <p:nvPr/>
        </p:nvPicPr>
        <p:blipFill>
          <a:blip r:embed="rId3"/>
          <a:stretch>
            <a:fillRect/>
          </a:stretch>
        </p:blipFill>
        <p:spPr>
          <a:xfrm>
            <a:off x="457200" y="4114800"/>
            <a:ext cx="4572000" cy="2404861"/>
          </a:xfrm>
          <a:prstGeom prst="rect">
            <a:avLst/>
          </a:prstGeom>
        </p:spPr>
      </p:pic>
    </p:spTree>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2928</Words>
  <Application>Microsoft Office PowerPoint</Application>
  <PresentationFormat>Widescreen</PresentationFormat>
  <Paragraphs>188</Paragraphs>
  <Slides>29</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Avenir Next LT Pro</vt:lpstr>
      <vt:lpstr>Calibri</vt:lpstr>
      <vt:lpstr>Merriweather</vt:lpstr>
      <vt:lpstr>Northern lights</vt:lpstr>
      <vt:lpstr>Student Exam Performance Prediction System</vt:lpstr>
      <vt:lpstr>Project Context and Purpose</vt:lpstr>
      <vt:lpstr>Student Exam Performance Prediction System Overview</vt:lpstr>
      <vt:lpstr>Problem Definition</vt:lpstr>
      <vt:lpstr>Business Problem in Educational Analytics</vt:lpstr>
      <vt:lpstr>Project Goals</vt:lpstr>
      <vt:lpstr>Objectives and Success Criteria</vt:lpstr>
      <vt:lpstr>Data Understanding</vt:lpstr>
      <vt:lpstr>System Workflow</vt:lpstr>
      <vt:lpstr>End-to-End Machine Learning Pipeline</vt:lpstr>
      <vt:lpstr>Data Preprocessing</vt:lpstr>
      <vt:lpstr>Numerical and Categorical Feature Processing</vt:lpstr>
      <vt:lpstr>Model Development</vt:lpstr>
      <vt:lpstr>Regression Models and Training Strategy</vt:lpstr>
      <vt:lpstr>Model Evaluation</vt:lpstr>
      <vt:lpstr>Model Selection and Quality Gates</vt:lpstr>
      <vt:lpstr>Deployment</vt:lpstr>
      <vt:lpstr>Flask Application and Cloud Hosting</vt:lpstr>
      <vt:lpstr>Project Outputs</vt:lpstr>
      <vt:lpstr>Evaluation of the System</vt:lpstr>
      <vt:lpstr>Strengths and Current Limitations</vt:lpstr>
      <vt:lpstr>Future Enhancements</vt:lpstr>
      <vt:lpstr>Planned Improvements and Extensions</vt:lpstr>
      <vt:lpstr>Overall Impact</vt:lpstr>
      <vt:lpstr>Practical and Educational Value</vt:lpstr>
      <vt:lpstr>Conclusion</vt:lpstr>
      <vt:lpstr>Summary and Key Takeaways</vt:lpstr>
      <vt:lpstr>Project Link &amp; Render Deployment</vt:lpstr>
      <vt:lpstr>Project Interface Screenshots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2203051050879@paruluniversity.ac.in</dc:creator>
  <cp:lastModifiedBy>Yubaraj Mahato</cp:lastModifiedBy>
  <cp:revision>1</cp:revision>
  <dcterms:modified xsi:type="dcterms:W3CDTF">2026-03-25T20:12:27Z</dcterms:modified>
</cp:coreProperties>
</file>